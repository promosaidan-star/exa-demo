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EXA, IN ONE BREATH: the thing this workflow needs is to find an announcement you did not know to look for, across sites you do not control, and get it back as fields with proof. A keyword feed only finds what someone tagged. A scraper only reads the page you pointed it at. A model alone has nothing to cite. Exa does the finding and the structuring in one call.</a:t>
            </a:r>
          </a:p>
          <a:p/>
          <a:p>
            <a:r>
              <a:t>THE TABLE: walk one row, the first one. Finds an event you did not name. That is the scan you just saw.</a:t>
            </a:r>
          </a:p>
          <a:p/>
          <a:p>
            <a:r>
              <a:t>WHY COMPELLING: the value is not the $0.07. It is that the feeds can never catch their own shared blind spot, and this does, and you can measure it in a week. Then the commercial point: this is the workload that gets Exa approved inside an asset manager.</a:t>
            </a:r>
          </a:p>
          <a:p/>
          <a:p>
            <a:r>
              <a:t>HANDOFF: so who is this for, and what goes wrong without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CUSTOMER, NOT THE TOOL.</a:t>
            </a:r>
          </a:p>
          <a:p/>
          <a:p>
            <a:r>
              <a:t>It is 7:40 in the morning at an asset manager. The security master team has a queue of breaks. A break is a row where their two data vendors disagree about a security. They have until the 9:30 open.</a:t>
            </a:r>
          </a:p>
          <a:p/>
          <a:p>
            <a:r>
              <a:t>CREDIBILITY (say it once, plainly):</a:t>
            </a:r>
          </a:p>
          <a:p>
            <a:r>
              <a:t>I spent two and a half years at Charles River as the primary FIX analyst for five buy-side clients. When security reference data was wrong, trades busted, and I was the one working out with the trader and the data team which provider caused it.</a:t>
            </a:r>
          </a:p>
          <a:p/>
          <a:p>
            <a:r>
              <a:t>THE EXAMPLE:</a:t>
            </a:r>
          </a:p>
          <a:p>
            <a:r>
              <a:t>This one is from this week. CDT Equity did a 1-for-25 reverse split. One vendor says effective the 28th, the other says the 29th. The issuer's release says effective the 28th at 5:00 pm, trading on the new basis from the 29th. So both vendors are right about something. The analyst has to know which date the golden copy should carry, and today they find that out by hand.</a:t>
            </a:r>
          </a:p>
          <a:p/>
          <a:p>
            <a:r>
              <a:t>THE STAKES:</a:t>
            </a:r>
          </a:p>
          <a:p>
            <a:r>
              <a:t>Load it wrong and the price and the share count are off by a factor of 25, which trips the NAV check. That is the morning this tool is built for.</a:t>
            </a:r>
          </a:p>
          <a:p/>
          <a:p>
            <a:r>
              <a:t>HANDOFF: So where does the answer live? On the public web.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IDEA: reconciling two feeds can only find where they disagree. It can never find what both are missing. The issuer and the exchange publish on the open web, and Exa can read it.</a:t>
            </a:r>
          </a:p>
          <a:p/>
          <a:p>
            <a:r>
              <a:t>WALK THE FLOW LEFT TO RIGHT:</a:t>
            </a:r>
          </a:p>
          <a:p>
            <a:r>
              <a:t>Start from the watchlist. One Exa search per issuer asks for recent corporate actions without naming an event. Each announcement comes back as fields with the passage and the page it came from. Then plain code matches it to the holdings and to both vendor records. When neither vendor has it, a new finding lands in the queue. I kept the decision out of the model on purpose, because an operations team has to explain every label to an auditor.</a:t>
            </a:r>
          </a:p>
          <a:p/>
          <a:p>
            <a:r>
              <a:t>WHY EXA:</a:t>
            </a:r>
          </a:p>
          <a:p>
            <a:r>
              <a:t>For Nasdaq names alone you could scrape one page. The hard part is the long tail: issuer sites, bond redemptions, 8-K filings. One search covers that without a scraper per site.</a:t>
            </a:r>
          </a:p>
          <a:p/>
          <a:p>
            <a:r>
              <a:t>WHAT I MEASURED:</a:t>
            </a:r>
          </a:p>
          <a:p>
            <a:r>
              <a:t>On live calls this week, type auto filled all eight fields in 2 to 4 seconds for $0.007. I also tried deep-lite on the same call. It cost more, took longer and found nothing extra, so auto is the default.</a:t>
            </a:r>
          </a:p>
          <a:p/>
          <a:p>
            <a:r>
              <a:t>IF ASKED ABOUT ZERO DATA RETENTION: it is available on search, which carries every routine lookup here. I would confirm coverage for the other endpoints with you before promising it to a customer.</a:t>
            </a:r>
          </a:p>
          <a:p/>
          <a:p>
            <a:r>
              <a:t>HANDOFF: Let me show it running, starting with a break we already know about, then the one we did not.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DEADLINE, NOT THE DOLLARS.</a:t>
            </a:r>
          </a:p>
          <a:p/>
          <a:p>
            <a:r>
              <a:t>The value the head of operations cares about first is breaks still open at 9:30, because that is where a wrong NAV or a rejected order comes from. On a heavy day, finding proof by hand can use up most of the team's window before the open. A review of 3 to 5 minutes per break gives that window back.</a:t>
            </a:r>
          </a:p>
          <a:p/>
          <a:p>
            <a:r>
              <a:t>BE CLEAR ABOUT WHAT IS MEASURED AND WHAT IS ASSUMED:</a:t>
            </a:r>
          </a:p>
          <a:p>
            <a:r>
              <a:t>The left column is assumptions. I would confirm every one in discovery. The middle column I measured myself this week.</a:t>
            </a:r>
          </a:p>
          <a:p/>
          <a:p>
            <a:r>
              <a:t>THE COST POINT:</a:t>
            </a:r>
          </a:p>
          <a:p>
            <a:r>
              <a:t>Exa spend for this queue is under $100 a year at list price. I am not going to pretend that is the deal. The deal is that this is a low-risk, easy-to-measure workload that takes Exa through security review at an asset manager. Once Exa is approved there, research and credit monitoring can run on the same approval.</a:t>
            </a:r>
          </a:p>
          <a:p/>
          <a:p>
            <a:r>
              <a:t>THE PROOF OF CONCEPT:</a:t>
            </a:r>
          </a:p>
          <a:p>
            <a:r>
              <a:t>Week 1 uses only public data, so it can start before security review finishes. The customer's own tickets wait until zero data retention is on.</a:t>
            </a:r>
          </a:p>
          <a:p/>
          <a:p>
            <a:r>
              <a:t>CLOSE WITH A QUESTION FOR RYAN:</a:t>
            </a:r>
          </a:p>
          <a:p>
            <a:r>
              <a:t>How does Exa size an enterprise agreement when the first workload is small but the account is large?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0545775" cy="1051560"/>
          </a:xfrm>
          <a:prstGeom prst="rect">
            <a:avLst/>
          </a:prstGeom>
          <a:noFill/>
        </p:spPr>
        <p:txBody>
          <a:bodyPr wrap="square" anchor="ctr">
            <a:spAutoFit/>
          </a:bodyPr>
          <a:lstStyle/>
          <a:p>
            <a:pPr algn="l"/>
            <a:r>
              <a:rPr sz="2600" b="1" i="0">
                <a:solidFill>
                  <a:srgbClr val="FFFFFF"/>
                </a:solidFill>
                <a:latin typeface="Segoe UI"/>
              </a:rPr>
              <a:t>Why Exa, and why this is the right first workload</a:t>
            </a:r>
          </a:p>
        </p:txBody>
      </p:sp>
      <p:sp>
        <p:nvSpPr>
          <p:cNvPr id="4" name="TextBox 3"/>
          <p:cNvSpPr txBox="1"/>
          <p:nvPr/>
        </p:nvSpPr>
        <p:spPr>
          <a:xfrm>
            <a:off x="11002975" y="0"/>
            <a:ext cx="731520" cy="1051560"/>
          </a:xfrm>
          <a:prstGeom prst="rect">
            <a:avLst/>
          </a:prstGeom>
          <a:noFill/>
        </p:spPr>
        <p:txBody>
          <a:bodyPr wrap="square" anchor="ctr">
            <a:spAutoFit/>
          </a:bodyPr>
          <a:lstStyle/>
          <a:p>
            <a:pPr algn="r"/>
            <a:r>
              <a:rPr sz="1200" b="0" i="0">
                <a:solidFill>
                  <a:srgbClr val="FFFFFF"/>
                </a:solidFill>
                <a:latin typeface="Segoe UI"/>
              </a:rPr>
              <a:t>1 / 4</a:t>
            </a:r>
          </a:p>
        </p:txBody>
      </p:sp>
      <p:sp>
        <p:nvSpPr>
          <p:cNvPr id="5" name="TextBox 4"/>
          <p:cNvSpPr txBox="1"/>
          <p:nvPr/>
        </p:nvSpPr>
        <p:spPr>
          <a:xfrm>
            <a:off x="457200" y="1234440"/>
            <a:ext cx="11277295" cy="365760"/>
          </a:xfrm>
          <a:prstGeom prst="rect">
            <a:avLst/>
          </a:prstGeom>
          <a:noFill/>
        </p:spPr>
        <p:txBody>
          <a:bodyPr wrap="square" anchor="t">
            <a:spAutoFit/>
          </a:bodyPr>
          <a:lstStyle/>
          <a:p>
            <a:pPr algn="l"/>
            <a:r>
              <a:rPr sz="1600" b="1" i="0">
                <a:solidFill>
                  <a:srgbClr val="0B1F3A"/>
                </a:solidFill>
                <a:latin typeface="Segoe UI"/>
              </a:rPr>
              <a:t>Four ways to get the same evidence</a:t>
            </a:r>
          </a:p>
        </p:txBody>
      </p:sp>
      <p:graphicFrame>
        <p:nvGraphicFramePr>
          <p:cNvPr id="6" name="Table 5"/>
          <p:cNvGraphicFramePr>
            <a:graphicFrameLocks noGrp="1"/>
          </p:cNvGraphicFramePr>
          <p:nvPr/>
        </p:nvGraphicFramePr>
        <p:xfrm>
          <a:off x="457200" y="1645920"/>
          <a:ext cx="11277292" cy="2011680"/>
        </p:xfrm>
        <a:graphic>
          <a:graphicData uri="http://schemas.openxmlformats.org/drawingml/2006/table">
            <a:tbl>
              <a:tblPr firstRow="1" bandRow="1">
                <a:tableStyleId>{5C22544A-7EE6-4342-B048-85BDC9FD1C3A}</a:tableStyleId>
              </a:tblPr>
              <a:tblGrid>
                <a:gridCol w="3108960"/>
                <a:gridCol w="2042083"/>
                <a:gridCol w="2042083"/>
                <a:gridCol w="2042083"/>
                <a:gridCol w="2042083"/>
              </a:tblGrid>
              <a:tr h="402336">
                <a:tc>
                  <a:txBody>
                    <a:bodyPr/>
                    <a:lstStyle/>
                    <a:p>
                      <a:r>
                        <a:rPr sz="1200" b="1" i="0">
                          <a:solidFill>
                            <a:srgbClr val="FFFFFF"/>
                          </a:solidFill>
                          <a:latin typeface="Segoe UI"/>
                        </a:rPr>
                        <a:t>What the workflow needs</a:t>
                      </a:r>
                    </a:p>
                  </a:txBody>
                  <a:tcPr anchor="ctr">
                    <a:solidFill>
                      <a:srgbClr val="0B1F3A"/>
                    </a:solidFill>
                  </a:tcPr>
                </a:tc>
                <a:tc>
                  <a:txBody>
                    <a:bodyPr/>
                    <a:lstStyle/>
                    <a:p>
                      <a:r>
                        <a:rPr sz="1200" b="1" i="0">
                          <a:solidFill>
                            <a:srgbClr val="FFFFFF"/>
                          </a:solidFill>
                          <a:latin typeface="Segoe UI"/>
                        </a:rPr>
                        <a:t>Keyword news feed</a:t>
                      </a:r>
                    </a:p>
                  </a:txBody>
                  <a:tcPr anchor="ctr">
                    <a:solidFill>
                      <a:srgbClr val="0B1F3A"/>
                    </a:solidFill>
                  </a:tcPr>
                </a:tc>
                <a:tc>
                  <a:txBody>
                    <a:bodyPr/>
                    <a:lstStyle/>
                    <a:p>
                      <a:r>
                        <a:rPr sz="1200" b="1" i="0">
                          <a:solidFill>
                            <a:srgbClr val="FFFFFF"/>
                          </a:solidFill>
                          <a:latin typeface="Segoe UI"/>
                        </a:rPr>
                        <a:t>Scraper per site</a:t>
                      </a:r>
                    </a:p>
                  </a:txBody>
                  <a:tcPr anchor="ctr">
                    <a:solidFill>
                      <a:srgbClr val="0B1F3A"/>
                    </a:solidFill>
                  </a:tcPr>
                </a:tc>
                <a:tc>
                  <a:txBody>
                    <a:bodyPr/>
                    <a:lstStyle/>
                    <a:p>
                      <a:r>
                        <a:rPr sz="1200" b="1" i="0">
                          <a:solidFill>
                            <a:srgbClr val="FFFFFF"/>
                          </a:solidFill>
                          <a:latin typeface="Segoe UI"/>
                        </a:rPr>
                        <a:t>A model alone (no retrieval)</a:t>
                      </a:r>
                    </a:p>
                  </a:txBody>
                  <a:tcPr anchor="ctr">
                    <a:solidFill>
                      <a:srgbClr val="0B1F3A"/>
                    </a:solidFill>
                  </a:tcPr>
                </a:tc>
                <a:tc>
                  <a:txBody>
                    <a:bodyPr/>
                    <a:lstStyle/>
                    <a:p>
                      <a:r>
                        <a:rPr sz="1200" b="1" i="0">
                          <a:solidFill>
                            <a:srgbClr val="FFFFFF"/>
                          </a:solidFill>
                          <a:latin typeface="Segoe UI"/>
                        </a:rPr>
                        <a:t>Exa</a:t>
                      </a:r>
                    </a:p>
                  </a:txBody>
                  <a:tcPr anchor="ctr">
                    <a:solidFill>
                      <a:srgbClr val="0B1F3A"/>
                    </a:solidFill>
                  </a:tcPr>
                </a:tc>
              </a:tr>
              <a:tr h="402336">
                <a:tc>
                  <a:txBody>
                    <a:bodyPr/>
                    <a:lstStyle/>
                    <a:p>
                      <a:r>
                        <a:rPr sz="1200" b="1" i="0">
                          <a:solidFill>
                            <a:srgbClr val="0B1F3A"/>
                          </a:solidFill>
                          <a:latin typeface="Segoe UI"/>
                        </a:rPr>
                        <a:t>Finds an event you did not name</a:t>
                      </a:r>
                    </a:p>
                  </a:txBody>
                  <a:tcPr anchor="ctr">
                    <a:solidFill>
                      <a:srgbClr val="FFFFFF"/>
                    </a:solidFill>
                  </a:tcPr>
                </a:tc>
                <a:tc>
                  <a:txBody>
                    <a:bodyPr/>
                    <a:lstStyle/>
                    <a:p>
                      <a:r>
                        <a:rPr sz="1200" b="0" i="0">
                          <a:solidFill>
                            <a:srgbClr val="1A1A1A"/>
                          </a:solidFill>
                          <a:latin typeface="Segoe UI"/>
                        </a:rPr>
                        <a:t>no, keyword-tagged</a:t>
                      </a:r>
                    </a:p>
                  </a:txBody>
                  <a:tcPr anchor="ctr">
                    <a:solidFill>
                      <a:srgbClr val="FFFFFF"/>
                    </a:solidFill>
                  </a:tcPr>
                </a:tc>
                <a:tc>
                  <a:txBody>
                    <a:bodyPr/>
                    <a:lstStyle/>
                    <a:p>
                      <a:r>
                        <a:rPr sz="1200" b="0" i="0">
                          <a:solidFill>
                            <a:srgbClr val="1A1A1A"/>
                          </a:solidFill>
                          <a:latin typeface="Segoe UI"/>
                        </a:rPr>
                        <a:t>no, one page per site</a:t>
                      </a:r>
                    </a:p>
                  </a:txBody>
                  <a:tcPr anchor="ctr">
                    <a:solidFill>
                      <a:srgbClr val="FFFFFF"/>
                    </a:solidFill>
                  </a:tcPr>
                </a:tc>
                <a:tc>
                  <a:txBody>
                    <a:bodyPr/>
                    <a:lstStyle/>
                    <a:p>
                      <a:r>
                        <a:rPr sz="1200" b="0" i="0">
                          <a:solidFill>
                            <a:srgbClr val="1A1A1A"/>
                          </a:solidFill>
                          <a:latin typeface="Segoe UI"/>
                        </a:rPr>
                        <a:t>no; a browsing model runs keyword search and returns prose</a:t>
                      </a:r>
                    </a:p>
                  </a:txBody>
                  <a:tcPr anchor="ctr">
                    <a:solidFill>
                      <a:srgbClr val="FFFFFF"/>
                    </a:solidFill>
                  </a:tcPr>
                </a:tc>
                <a:tc>
                  <a:txBody>
                    <a:bodyPr/>
                    <a:lstStyle/>
                    <a:p>
                      <a:r>
                        <a:rPr sz="1200" b="0" i="0">
                          <a:solidFill>
                            <a:srgbClr val="1A1A1A"/>
                          </a:solidFill>
                          <a:latin typeface="Segoe UI"/>
                        </a:rPr>
                        <a:t>yes, meaning-based search</a:t>
                      </a:r>
                    </a:p>
                  </a:txBody>
                  <a:tcPr anchor="ctr">
                    <a:solidFill>
                      <a:srgbClr val="FFFFFF"/>
                    </a:solidFill>
                  </a:tcPr>
                </a:tc>
              </a:tr>
              <a:tr h="402336">
                <a:tc>
                  <a:txBody>
                    <a:bodyPr/>
                    <a:lstStyle/>
                    <a:p>
                      <a:r>
                        <a:rPr sz="1200" b="1" i="0">
                          <a:solidFill>
                            <a:srgbClr val="0B1F3A"/>
                          </a:solidFill>
                          <a:latin typeface="Segoe UI"/>
                        </a:rPr>
                        <a:t>Covers issuer sites, wires, Nasdaq, SEC</a:t>
                      </a:r>
                    </a:p>
                  </a:txBody>
                  <a:tcPr anchor="ctr">
                    <a:solidFill>
                      <a:srgbClr val="FFFFFF"/>
                    </a:solidFill>
                  </a:tcPr>
                </a:tc>
                <a:tc>
                  <a:txBody>
                    <a:bodyPr/>
                    <a:lstStyle/>
                    <a:p>
                      <a:r>
                        <a:rPr sz="1200" b="0" i="0">
                          <a:solidFill>
                            <a:srgbClr val="1A1A1A"/>
                          </a:solidFill>
                          <a:latin typeface="Segoe UI"/>
                        </a:rPr>
                        <a:t>partly</a:t>
                      </a:r>
                    </a:p>
                  </a:txBody>
                  <a:tcPr anchor="ctr">
                    <a:solidFill>
                      <a:srgbClr val="FFFFFF"/>
                    </a:solidFill>
                  </a:tcPr>
                </a:tc>
                <a:tc>
                  <a:txBody>
                    <a:bodyPr/>
                    <a:lstStyle/>
                    <a:p>
                      <a:r>
                        <a:rPr sz="1200" b="0" i="0">
                          <a:solidFill>
                            <a:srgbClr val="1A1A1A"/>
                          </a:solidFill>
                          <a:latin typeface="Segoe UI"/>
                        </a:rPr>
                        <a:t>one scraper each</a:t>
                      </a:r>
                    </a:p>
                  </a:txBody>
                  <a:tcPr anchor="ctr">
                    <a:solidFill>
                      <a:srgbClr val="FFFFFF"/>
                    </a:solidFill>
                  </a:tcPr>
                </a:tc>
                <a:tc>
                  <a:txBody>
                    <a:bodyPr/>
                    <a:lstStyle/>
                    <a:p>
                      <a:r>
                        <a:rPr sz="1200" b="0" i="0">
                          <a:solidFill>
                            <a:srgbClr val="1A1A1A"/>
                          </a:solidFill>
                          <a:latin typeface="Segoe UI"/>
                        </a:rPr>
                        <a:t>no</a:t>
                      </a:r>
                    </a:p>
                  </a:txBody>
                  <a:tcPr anchor="ctr">
                    <a:solidFill>
                      <a:srgbClr val="FFFFFF"/>
                    </a:solidFill>
                  </a:tcPr>
                </a:tc>
                <a:tc>
                  <a:txBody>
                    <a:bodyPr/>
                    <a:lstStyle/>
                    <a:p>
                      <a:r>
                        <a:rPr sz="1200" b="0" i="0">
                          <a:solidFill>
                            <a:srgbClr val="1A1A1A"/>
                          </a:solidFill>
                          <a:latin typeface="Segoe UI"/>
                        </a:rPr>
                        <a:t>yes, one query</a:t>
                      </a:r>
                    </a:p>
                  </a:txBody>
                  <a:tcPr anchor="ctr">
                    <a:solidFill>
                      <a:srgbClr val="FFFFFF"/>
                    </a:solidFill>
                  </a:tcPr>
                </a:tc>
              </a:tr>
              <a:tr h="402336">
                <a:tc>
                  <a:txBody>
                    <a:bodyPr/>
                    <a:lstStyle/>
                    <a:p>
                      <a:r>
                        <a:rPr sz="1200" b="1" i="0">
                          <a:solidFill>
                            <a:srgbClr val="0B1F3A"/>
                          </a:solidFill>
                          <a:latin typeface="Segoe UI"/>
                        </a:rPr>
                        <a:t>Structured fields with a passage and a link</a:t>
                      </a:r>
                    </a:p>
                  </a:txBody>
                  <a:tcPr anchor="ctr">
                    <a:solidFill>
                      <a:srgbClr val="FFFFFF"/>
                    </a:solidFill>
                  </a:tcPr>
                </a:tc>
                <a:tc>
                  <a:txBody>
                    <a:bodyPr/>
                    <a:lstStyle/>
                    <a:p>
                      <a:r>
                        <a:rPr sz="1200" b="0" i="0">
                          <a:solidFill>
                            <a:srgbClr val="1A1A1A"/>
                          </a:solidFill>
                          <a:latin typeface="Segoe UI"/>
                        </a:rPr>
                        <a:t>no</a:t>
                      </a:r>
                    </a:p>
                  </a:txBody>
                  <a:tcPr anchor="ctr">
                    <a:solidFill>
                      <a:srgbClr val="FFFFFF"/>
                    </a:solidFill>
                  </a:tcPr>
                </a:tc>
                <a:tc>
                  <a:txBody>
                    <a:bodyPr/>
                    <a:lstStyle/>
                    <a:p>
                      <a:r>
                        <a:rPr sz="1200" b="0" i="0">
                          <a:solidFill>
                            <a:srgbClr val="1A1A1A"/>
                          </a:solidFill>
                          <a:latin typeface="Segoe UI"/>
                        </a:rPr>
                        <a:t>build it yourself</a:t>
                      </a:r>
                    </a:p>
                  </a:txBody>
                  <a:tcPr anchor="ctr">
                    <a:solidFill>
                      <a:srgbClr val="FFFFFF"/>
                    </a:solidFill>
                  </a:tcPr>
                </a:tc>
                <a:tc>
                  <a:txBody>
                    <a:bodyPr/>
                    <a:lstStyle/>
                    <a:p>
                      <a:r>
                        <a:rPr sz="1200" b="0" i="0">
                          <a:solidFill>
                            <a:srgbClr val="1A1A1A"/>
                          </a:solidFill>
                          <a:latin typeface="Segoe UI"/>
                        </a:rPr>
                        <a:t>no citation</a:t>
                      </a:r>
                    </a:p>
                  </a:txBody>
                  <a:tcPr anchor="ctr">
                    <a:solidFill>
                      <a:srgbClr val="FFFFFF"/>
                    </a:solidFill>
                  </a:tcPr>
                </a:tc>
                <a:tc>
                  <a:txBody>
                    <a:bodyPr/>
                    <a:lstStyle/>
                    <a:p>
                      <a:r>
                        <a:rPr sz="1200" b="0" i="0">
                          <a:solidFill>
                            <a:srgbClr val="1A1A1A"/>
                          </a:solidFill>
                          <a:latin typeface="Segoe UI"/>
                        </a:rPr>
                        <a:t>yes, in the same call</a:t>
                      </a:r>
                    </a:p>
                  </a:txBody>
                  <a:tcPr anchor="ctr">
                    <a:solidFill>
                      <a:srgbClr val="FFFFFF"/>
                    </a:solidFill>
                  </a:tcPr>
                </a:tc>
              </a:tr>
              <a:tr h="402336">
                <a:tc>
                  <a:txBody>
                    <a:bodyPr/>
                    <a:lstStyle/>
                    <a:p>
                      <a:r>
                        <a:rPr sz="1200" b="1" i="0">
                          <a:solidFill>
                            <a:srgbClr val="0B1F3A"/>
                          </a:solidFill>
                          <a:latin typeface="Segoe UI"/>
                        </a:rPr>
                        <a:t>Cost to add the next 1,000 issuers</a:t>
                      </a:r>
                    </a:p>
                  </a:txBody>
                  <a:tcPr anchor="ctr">
                    <a:solidFill>
                      <a:srgbClr val="FFFFFF"/>
                    </a:solidFill>
                  </a:tcPr>
                </a:tc>
                <a:tc>
                  <a:txBody>
                    <a:bodyPr/>
                    <a:lstStyle/>
                    <a:p>
                      <a:r>
                        <a:rPr sz="1200" b="0" i="0">
                          <a:solidFill>
                            <a:srgbClr val="1A1A1A"/>
                          </a:solidFill>
                          <a:latin typeface="Segoe UI"/>
                        </a:rPr>
                        <a:t>license</a:t>
                      </a:r>
                    </a:p>
                  </a:txBody>
                  <a:tcPr anchor="ctr">
                    <a:solidFill>
                      <a:srgbClr val="FFFFFF"/>
                    </a:solidFill>
                  </a:tcPr>
                </a:tc>
                <a:tc>
                  <a:txBody>
                    <a:bodyPr/>
                    <a:lstStyle/>
                    <a:p>
                      <a:r>
                        <a:rPr sz="1200" b="0" i="0">
                          <a:solidFill>
                            <a:srgbClr val="1A1A1A"/>
                          </a:solidFill>
                          <a:latin typeface="Segoe UI"/>
                        </a:rPr>
                        <a:t>1,000 scrapers to maintain</a:t>
                      </a:r>
                    </a:p>
                  </a:txBody>
                  <a:tcPr anchor="ctr">
                    <a:solidFill>
                      <a:srgbClr val="FFFFFF"/>
                    </a:solidFill>
                  </a:tcPr>
                </a:tc>
                <a:tc>
                  <a:txBody>
                    <a:bodyPr/>
                    <a:lstStyle/>
                    <a:p>
                      <a:r>
                        <a:rPr sz="1200" b="0" i="0">
                          <a:solidFill>
                            <a:srgbClr val="1A1A1A"/>
                          </a:solidFill>
                          <a:latin typeface="Segoe UI"/>
                        </a:rPr>
                        <a:t>n/a</a:t>
                      </a:r>
                    </a:p>
                  </a:txBody>
                  <a:tcPr anchor="ctr">
                    <a:solidFill>
                      <a:srgbClr val="FFFFFF"/>
                    </a:solidFill>
                  </a:tcPr>
                </a:tc>
                <a:tc>
                  <a:txBody>
                    <a:bodyPr/>
                    <a:lstStyle/>
                    <a:p>
                      <a:r>
                        <a:rPr sz="1200" b="0" i="0">
                          <a:solidFill>
                            <a:srgbClr val="1A1A1A"/>
                          </a:solidFill>
                          <a:latin typeface="Segoe UI"/>
                        </a:rPr>
                        <a:t>about $7 a day at list</a:t>
                      </a:r>
                    </a:p>
                  </a:txBody>
                  <a:tcPr anchor="ctr">
                    <a:solidFill>
                      <a:srgbClr val="FFFFFF"/>
                    </a:solidFill>
                  </a:tcPr>
                </a:tc>
              </a:tr>
            </a:tbl>
          </a:graphicData>
        </a:graphic>
      </p:graphicFrame>
      <p:sp>
        <p:nvSpPr>
          <p:cNvPr id="7" name="Rectangle 6"/>
          <p:cNvSpPr/>
          <p:nvPr/>
        </p:nvSpPr>
        <p:spPr>
          <a:xfrm>
            <a:off x="457200" y="4114800"/>
            <a:ext cx="5501487" cy="20116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206240"/>
            <a:ext cx="5135727" cy="411480"/>
          </a:xfrm>
          <a:prstGeom prst="rect">
            <a:avLst/>
          </a:prstGeom>
          <a:noFill/>
        </p:spPr>
        <p:txBody>
          <a:bodyPr wrap="square" anchor="t">
            <a:spAutoFit/>
          </a:bodyPr>
          <a:lstStyle/>
          <a:p>
            <a:pPr algn="l"/>
            <a:r>
              <a:rPr sz="1400" b="1" i="0">
                <a:solidFill>
                  <a:srgbClr val="0B1F3A"/>
                </a:solidFill>
                <a:latin typeface="Segoe UI"/>
              </a:rPr>
              <a:t>What Exa does here (measured this week)</a:t>
            </a:r>
          </a:p>
        </p:txBody>
      </p:sp>
      <p:sp>
        <p:nvSpPr>
          <p:cNvPr id="9" name="TextBox 8"/>
          <p:cNvSpPr txBox="1"/>
          <p:nvPr/>
        </p:nvSpPr>
        <p:spPr>
          <a:xfrm>
            <a:off x="640080" y="4663440"/>
            <a:ext cx="5135727" cy="1371600"/>
          </a:xfrm>
          <a:prstGeom prst="rect">
            <a:avLst/>
          </a:prstGeom>
          <a:noFill/>
        </p:spPr>
        <p:txBody>
          <a:bodyPr wrap="square">
            <a:spAutoFit/>
          </a:bodyPr>
          <a:lstStyle/>
          <a:p>
            <a:pPr>
              <a:spcAft>
                <a:spcPts val="600"/>
              </a:spcAft>
            </a:pPr>
            <a:r>
              <a:rPr sz="1200" b="1" i="0">
                <a:solidFill>
                  <a:srgbClr val="0B1F3A"/>
                </a:solidFill>
                <a:latin typeface="Segoe UI"/>
              </a:rPr>
              <a:t>Meaning, not keywords: </a:t>
            </a:r>
            <a:r>
              <a:rPr sz="1200" b="0" i="0">
                <a:solidFill>
                  <a:srgbClr val="1A1A1A"/>
                </a:solidFill>
                <a:latin typeface="Segoe UI"/>
              </a:rPr>
              <a:t>the query asks for recent corporate actions by an issuer. Exa returns the split notice, the 8-K or the redemption release without any of them being named.</a:t>
            </a:r>
          </a:p>
          <a:p>
            <a:pPr>
              <a:spcAft>
                <a:spcPts val="600"/>
              </a:spcAft>
            </a:pPr>
            <a:r>
              <a:rPr sz="1200" b="1" i="0">
                <a:solidFill>
                  <a:srgbClr val="0B1F3A"/>
                </a:solidFill>
                <a:latin typeface="Segoe UI"/>
              </a:rPr>
              <a:t>One call, grounded: </a:t>
            </a:r>
            <a:r>
              <a:rPr sz="1200" b="0" i="0">
                <a:solidFill>
                  <a:srgbClr val="1A1A1A"/>
                </a:solidFill>
                <a:latin typeface="Segoe UI"/>
              </a:rPr>
              <a:t>fields plus the passage and the link, in 2 to 4 seconds for $0.007, across issuer sites, wires, Nasdaq and the SEC.</a:t>
            </a:r>
          </a:p>
          <a:p>
            <a:pPr>
              <a:spcAft>
                <a:spcPts val="600"/>
              </a:spcAft>
            </a:pPr>
            <a:r>
              <a:rPr sz="1200" b="1" i="0">
                <a:solidFill>
                  <a:srgbClr val="0B1F3A"/>
                </a:solidFill>
                <a:latin typeface="Segoe UI"/>
              </a:rPr>
              <a:t>Verifiable: </a:t>
            </a:r>
            <a:r>
              <a:rPr sz="1200" b="0" i="0">
                <a:solidFill>
                  <a:srgbClr val="1A1A1A"/>
                </a:solidFill>
                <a:latin typeface="Segoe UI"/>
              </a:rPr>
              <a:t>every answer is a sentence you can click. A stale page is re-fetched live for $0.001.</a:t>
            </a:r>
          </a:p>
        </p:txBody>
      </p:sp>
      <p:sp>
        <p:nvSpPr>
          <p:cNvPr id="10" name="Rectangle 9"/>
          <p:cNvSpPr/>
          <p:nvPr/>
        </p:nvSpPr>
        <p:spPr>
          <a:xfrm>
            <a:off x="6233007" y="4114800"/>
            <a:ext cx="5501487" cy="20116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5887" y="4206240"/>
            <a:ext cx="5135727" cy="411480"/>
          </a:xfrm>
          <a:prstGeom prst="rect">
            <a:avLst/>
          </a:prstGeom>
          <a:noFill/>
        </p:spPr>
        <p:txBody>
          <a:bodyPr wrap="square" anchor="t">
            <a:spAutoFit/>
          </a:bodyPr>
          <a:lstStyle/>
          <a:p>
            <a:pPr algn="l"/>
            <a:r>
              <a:rPr sz="1400" b="1" i="0">
                <a:solidFill>
                  <a:srgbClr val="0B1F3A"/>
                </a:solidFill>
                <a:latin typeface="Segoe UI"/>
              </a:rPr>
              <a:t>Why this project is compelling</a:t>
            </a:r>
          </a:p>
        </p:txBody>
      </p:sp>
      <p:sp>
        <p:nvSpPr>
          <p:cNvPr id="12" name="TextBox 11"/>
          <p:cNvSpPr txBox="1"/>
          <p:nvPr/>
        </p:nvSpPr>
        <p:spPr>
          <a:xfrm>
            <a:off x="6415887" y="4663440"/>
            <a:ext cx="5135727" cy="1371600"/>
          </a:xfrm>
          <a:prstGeom prst="rect">
            <a:avLst/>
          </a:prstGeom>
          <a:noFill/>
        </p:spPr>
        <p:txBody>
          <a:bodyPr wrap="square">
            <a:spAutoFit/>
          </a:bodyPr>
          <a:lstStyle/>
          <a:p>
            <a:pPr>
              <a:spcAft>
                <a:spcPts val="600"/>
              </a:spcAft>
            </a:pPr>
            <a:r>
              <a:rPr sz="1200" b="1" i="0">
                <a:solidFill>
                  <a:srgbClr val="0B1F3A"/>
                </a:solidFill>
                <a:latin typeface="Segoe UI"/>
              </a:rPr>
              <a:t>It finds what reconciliation cannot: </a:t>
            </a:r>
            <a:r>
              <a:rPr sz="1200" b="0" i="0">
                <a:solidFill>
                  <a:srgbClr val="1A1A1A"/>
                </a:solidFill>
                <a:latin typeface="Segoe UI"/>
              </a:rPr>
              <a:t>an event both feeds missed, found today on a 10-name watchlist in 11 seconds for $0.07.</a:t>
            </a:r>
          </a:p>
          <a:p>
            <a:pPr>
              <a:spcAft>
                <a:spcPts val="600"/>
              </a:spcAft>
            </a:pPr>
            <a:r>
              <a:rPr sz="1200" b="1" i="0">
                <a:solidFill>
                  <a:srgbClr val="0B1F3A"/>
                </a:solidFill>
                <a:latin typeface="Segoe UI"/>
              </a:rPr>
              <a:t>It is cheap to prove: </a:t>
            </a:r>
            <a:r>
              <a:rPr sz="1200" b="0" i="0">
                <a:solidFill>
                  <a:srgbClr val="1A1A1A"/>
                </a:solidFill>
                <a:latin typeface="Segoe UI"/>
              </a:rPr>
              <a:t>one week, count breaks still open at 9:30 and events missed by both feeds, with and without.</a:t>
            </a:r>
          </a:p>
          <a:p>
            <a:pPr>
              <a:spcAft>
                <a:spcPts val="600"/>
              </a:spcAft>
            </a:pPr>
            <a:r>
              <a:rPr sz="1200" b="1" i="0">
                <a:solidFill>
                  <a:srgbClr val="0B1F3A"/>
                </a:solidFill>
                <a:latin typeface="Segoe UI"/>
              </a:rPr>
              <a:t>It is the wedge: </a:t>
            </a:r>
            <a:r>
              <a:rPr sz="1200" b="0" i="0">
                <a:solidFill>
                  <a:srgbClr val="1A1A1A"/>
                </a:solidFill>
                <a:latin typeface="Segoe UI"/>
              </a:rPr>
              <a:t>a low-risk workload that takes Exa through security review and zero data retention. Research and credit monitoring then run on the same approval.</a:t>
            </a:r>
          </a:p>
        </p:txBody>
      </p:sp>
      <p:sp>
        <p:nvSpPr>
          <p:cNvPr id="13" name="TextBox 12"/>
          <p:cNvSpPr txBox="1"/>
          <p:nvPr/>
        </p:nvSpPr>
        <p:spPr>
          <a:xfrm>
            <a:off x="457200" y="6217920"/>
            <a:ext cx="11277295" cy="457200"/>
          </a:xfrm>
          <a:prstGeom prst="rect">
            <a:avLst/>
          </a:prstGeom>
          <a:noFill/>
        </p:spPr>
        <p:txBody>
          <a:bodyPr wrap="square" anchor="t">
            <a:spAutoFit/>
          </a:bodyPr>
          <a:lstStyle/>
          <a:p>
            <a:pPr algn="l"/>
            <a:r>
              <a:rPr sz="1000" b="0" i="1">
                <a:solidFill>
                  <a:srgbClr val="5B6573"/>
                </a:solidFill>
                <a:latin typeface="Segoe UI"/>
              </a:rPr>
              <a:t>Costs are Exa list prices. Feed and scraper costs are the customer's to confirm. Vendor records in the demo are simulated.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0545775" cy="1051560"/>
          </a:xfrm>
          <a:prstGeom prst="rect">
            <a:avLst/>
          </a:prstGeom>
          <a:noFill/>
        </p:spPr>
        <p:txBody>
          <a:bodyPr wrap="square" anchor="ctr">
            <a:spAutoFit/>
          </a:bodyPr>
          <a:lstStyle/>
          <a:p>
            <a:pPr algn="l"/>
            <a:r>
              <a:rPr sz="2600" b="1" i="0">
                <a:solidFill>
                  <a:srgbClr val="FFFFFF"/>
                </a:solidFill>
                <a:latin typeface="Segoe UI"/>
              </a:rPr>
              <a:t>7:40 AM. Two data vendors disagree on one security. Who is right?</a:t>
            </a:r>
          </a:p>
        </p:txBody>
      </p:sp>
      <p:sp>
        <p:nvSpPr>
          <p:cNvPr id="4" name="TextBox 3"/>
          <p:cNvSpPr txBox="1"/>
          <p:nvPr/>
        </p:nvSpPr>
        <p:spPr>
          <a:xfrm>
            <a:off x="11002975" y="0"/>
            <a:ext cx="731520" cy="1051560"/>
          </a:xfrm>
          <a:prstGeom prst="rect">
            <a:avLst/>
          </a:prstGeom>
          <a:noFill/>
        </p:spPr>
        <p:txBody>
          <a:bodyPr wrap="square" anchor="ctr">
            <a:spAutoFit/>
          </a:bodyPr>
          <a:lstStyle/>
          <a:p>
            <a:pPr algn="r"/>
            <a:r>
              <a:rPr sz="1200" b="0" i="0">
                <a:solidFill>
                  <a:srgbClr val="FFFFFF"/>
                </a:solidFill>
                <a:latin typeface="Segoe UI"/>
              </a:rPr>
              <a:t>2 / 4</a:t>
            </a:r>
          </a:p>
        </p:txBody>
      </p:sp>
      <p:sp>
        <p:nvSpPr>
          <p:cNvPr id="5" name="Rectangle 4"/>
          <p:cNvSpPr/>
          <p:nvPr/>
        </p:nvSpPr>
        <p:spPr>
          <a:xfrm>
            <a:off x="457200" y="1280160"/>
            <a:ext cx="5120640" cy="30632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4754880" cy="411480"/>
          </a:xfrm>
          <a:prstGeom prst="rect">
            <a:avLst/>
          </a:prstGeom>
          <a:noFill/>
        </p:spPr>
        <p:txBody>
          <a:bodyPr wrap="square" anchor="t">
            <a:spAutoFit/>
          </a:bodyPr>
          <a:lstStyle/>
          <a:p>
            <a:pPr algn="l"/>
            <a:r>
              <a:rPr sz="1500" b="1" i="0">
                <a:solidFill>
                  <a:srgbClr val="0B1F3A"/>
                </a:solidFill>
                <a:latin typeface="Segoe UI"/>
              </a:rPr>
              <a:t>Who this is for</a:t>
            </a:r>
          </a:p>
        </p:txBody>
      </p:sp>
      <p:sp>
        <p:nvSpPr>
          <p:cNvPr id="7" name="TextBox 6"/>
          <p:cNvSpPr txBox="1"/>
          <p:nvPr/>
        </p:nvSpPr>
        <p:spPr>
          <a:xfrm>
            <a:off x="640080" y="1828800"/>
            <a:ext cx="4754880" cy="2423160"/>
          </a:xfrm>
          <a:prstGeom prst="rect">
            <a:avLst/>
          </a:prstGeom>
          <a:noFill/>
        </p:spPr>
        <p:txBody>
          <a:bodyPr wrap="square">
            <a:spAutoFit/>
          </a:bodyPr>
          <a:lstStyle/>
          <a:p>
            <a:pPr>
              <a:spcAft>
                <a:spcPts val="600"/>
              </a:spcAft>
            </a:pPr>
            <a:r>
              <a:rPr sz="1300" b="1" i="0">
                <a:solidFill>
                  <a:srgbClr val="0B1F3A"/>
                </a:solidFill>
                <a:latin typeface="Segoe UI"/>
              </a:rPr>
              <a:t>Customer: </a:t>
            </a:r>
            <a:r>
              <a:rPr sz="1300" b="0" i="0">
                <a:solidFill>
                  <a:srgbClr val="1A1A1A"/>
                </a:solidFill>
                <a:latin typeface="Segoe UI"/>
              </a:rPr>
              <a:t>a US asset manager running index and total-market equity funds plus investment-grade credit.</a:t>
            </a:r>
          </a:p>
          <a:p>
            <a:pPr>
              <a:spcAft>
                <a:spcPts val="600"/>
              </a:spcAft>
            </a:pPr>
            <a:r>
              <a:rPr sz="1300" b="1" i="0">
                <a:solidFill>
                  <a:srgbClr val="0B1F3A"/>
                </a:solidFill>
                <a:latin typeface="Segoe UI"/>
              </a:rPr>
              <a:t>User: </a:t>
            </a:r>
            <a:r>
              <a:rPr sz="1300" b="0" i="0">
                <a:solidFill>
                  <a:srgbClr val="1A1A1A"/>
                </a:solidFill>
                <a:latin typeface="Segoe UI"/>
              </a:rPr>
              <a:t>a security master analyst. A team of 3 to 4 shares one queue of breaks and must clear it before the 9:30 open.</a:t>
            </a:r>
          </a:p>
          <a:p>
            <a:pPr>
              <a:spcAft>
                <a:spcPts val="600"/>
              </a:spcAft>
            </a:pPr>
            <a:r>
              <a:rPr sz="1300" b="1" i="0">
                <a:solidFill>
                  <a:srgbClr val="0B1F3A"/>
                </a:solidFill>
                <a:latin typeface="Segoe UI"/>
              </a:rPr>
              <a:t>Today: </a:t>
            </a:r>
            <a:r>
              <a:rPr sz="1300" b="0" i="0">
                <a:solidFill>
                  <a:srgbClr val="1A1A1A"/>
                </a:solidFill>
                <a:latin typeface="Segoe UI"/>
              </a:rPr>
              <a:t>each break needs proof found by hand on Google, EDGAR and Nasdaq Trader, then links pasted into the ticket. About 15 to 25 minutes each (assumption to confirm).</a:t>
            </a:r>
          </a:p>
          <a:p>
            <a:pPr>
              <a:spcAft>
                <a:spcPts val="600"/>
              </a:spcAft>
            </a:pPr>
            <a:r>
              <a:rPr sz="1300" b="1" i="0">
                <a:solidFill>
                  <a:srgbClr val="0B1F3A"/>
                </a:solidFill>
                <a:latin typeface="Segoe UI"/>
              </a:rPr>
              <a:t>The worse case: </a:t>
            </a:r>
            <a:r>
              <a:rPr sz="1300" b="0" i="0">
                <a:solidFill>
                  <a:srgbClr val="1A1A1A"/>
                </a:solidFill>
                <a:latin typeface="Segoe UI"/>
              </a:rPr>
              <a:t>both vendors agree because both are missing an event. Reconciling the feeds can never catch that.</a:t>
            </a:r>
          </a:p>
        </p:txBody>
      </p:sp>
      <p:sp>
        <p:nvSpPr>
          <p:cNvPr id="8" name="Rectangle 7"/>
          <p:cNvSpPr/>
          <p:nvPr/>
        </p:nvSpPr>
        <p:spPr>
          <a:xfrm>
            <a:off x="5852160" y="1280160"/>
            <a:ext cx="5882335" cy="30632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40" y="1371600"/>
            <a:ext cx="5516575" cy="411480"/>
          </a:xfrm>
          <a:prstGeom prst="rect">
            <a:avLst/>
          </a:prstGeom>
          <a:noFill/>
        </p:spPr>
        <p:txBody>
          <a:bodyPr wrap="square" anchor="t">
            <a:spAutoFit/>
          </a:bodyPr>
          <a:lstStyle/>
          <a:p>
            <a:pPr algn="l"/>
            <a:r>
              <a:rPr sz="1600" b="1" i="0">
                <a:solidFill>
                  <a:srgbClr val="0B1F3A"/>
                </a:solidFill>
                <a:latin typeface="Segoe UI"/>
              </a:rPr>
              <a:t>A real event from this week: CDT Equity (Nasdaq: CDT)</a:t>
            </a:r>
          </a:p>
        </p:txBody>
      </p:sp>
      <p:graphicFrame>
        <p:nvGraphicFramePr>
          <p:cNvPr id="10" name="Table 9"/>
          <p:cNvGraphicFramePr>
            <a:graphicFrameLocks noGrp="1"/>
          </p:cNvGraphicFramePr>
          <p:nvPr/>
        </p:nvGraphicFramePr>
        <p:xfrm>
          <a:off x="6035040" y="1874520"/>
          <a:ext cx="5516574" cy="1371600"/>
        </p:xfrm>
        <a:graphic>
          <a:graphicData uri="http://schemas.openxmlformats.org/drawingml/2006/table">
            <a:tbl>
              <a:tblPr firstRow="1" bandRow="1">
                <a:tableStyleId>{5C22544A-7EE6-4342-B048-85BDC9FD1C3A}</a:tableStyleId>
              </a:tblPr>
              <a:tblGrid>
                <a:gridCol w="1838858"/>
                <a:gridCol w="1838858"/>
                <a:gridCol w="1838858"/>
              </a:tblGrid>
              <a:tr h="342900">
                <a:tc>
                  <a:txBody>
                    <a:bodyPr/>
                    <a:lstStyle/>
                    <a:p>
                      <a:r>
                        <a:rPr sz="1300" b="1" i="0">
                          <a:solidFill>
                            <a:srgbClr val="FFFFFF"/>
                          </a:solidFill>
                          <a:latin typeface="Segoe UI"/>
                        </a:rPr>
                        <a:t>Field</a:t>
                      </a:r>
                    </a:p>
                  </a:txBody>
                  <a:tcPr anchor="ctr">
                    <a:solidFill>
                      <a:srgbClr val="0B1F3A"/>
                    </a:solidFill>
                  </a:tcPr>
                </a:tc>
                <a:tc>
                  <a:txBody>
                    <a:bodyPr/>
                    <a:lstStyle/>
                    <a:p>
                      <a:r>
                        <a:rPr sz="1300" b="1" i="0">
                          <a:solidFill>
                            <a:srgbClr val="FFFFFF"/>
                          </a:solidFill>
                          <a:latin typeface="Segoe UI"/>
                        </a:rPr>
                        <a:t>Vendor A</a:t>
                      </a:r>
                    </a:p>
                  </a:txBody>
                  <a:tcPr anchor="ctr">
                    <a:solidFill>
                      <a:srgbClr val="0B1F3A"/>
                    </a:solidFill>
                  </a:tcPr>
                </a:tc>
                <a:tc>
                  <a:txBody>
                    <a:bodyPr/>
                    <a:lstStyle/>
                    <a:p>
                      <a:r>
                        <a:rPr sz="1300" b="1" i="0">
                          <a:solidFill>
                            <a:srgbClr val="FFFFFF"/>
                          </a:solidFill>
                          <a:latin typeface="Segoe UI"/>
                        </a:rPr>
                        <a:t>Vendor B</a:t>
                      </a:r>
                    </a:p>
                  </a:txBody>
                  <a:tcPr anchor="ctr">
                    <a:solidFill>
                      <a:srgbClr val="0B1F3A"/>
                    </a:solidFill>
                  </a:tcPr>
                </a:tc>
              </a:tr>
              <a:tr h="342900">
                <a:tc>
                  <a:txBody>
                    <a:bodyPr/>
                    <a:lstStyle/>
                    <a:p>
                      <a:r>
                        <a:rPr sz="1300" b="1" i="0">
                          <a:solidFill>
                            <a:srgbClr val="0B1F3A"/>
                          </a:solidFill>
                          <a:latin typeface="Segoe UI"/>
                        </a:rPr>
                        <a:t>Event</a:t>
                      </a:r>
                    </a:p>
                  </a:txBody>
                  <a:tcPr anchor="ctr">
                    <a:solidFill>
                      <a:srgbClr val="FFFFFF"/>
                    </a:solidFill>
                  </a:tcPr>
                </a:tc>
                <a:tc>
                  <a:txBody>
                    <a:bodyPr/>
                    <a:lstStyle/>
                    <a:p>
                      <a:r>
                        <a:rPr sz="1300" b="0" i="0">
                          <a:solidFill>
                            <a:srgbClr val="1A1A1A"/>
                          </a:solidFill>
                          <a:latin typeface="Segoe UI"/>
                        </a:rPr>
                        <a:t>Reverse split</a:t>
                      </a:r>
                    </a:p>
                  </a:txBody>
                  <a:tcPr anchor="ctr">
                    <a:solidFill>
                      <a:srgbClr val="FFFFFF"/>
                    </a:solidFill>
                  </a:tcPr>
                </a:tc>
                <a:tc>
                  <a:txBody>
                    <a:bodyPr/>
                    <a:lstStyle/>
                    <a:p>
                      <a:r>
                        <a:rPr sz="1300" b="0" i="0">
                          <a:solidFill>
                            <a:srgbClr val="1A1A1A"/>
                          </a:solidFill>
                          <a:latin typeface="Segoe UI"/>
                        </a:rPr>
                        <a:t>Reverse split</a:t>
                      </a:r>
                    </a:p>
                  </a:txBody>
                  <a:tcPr anchor="ctr">
                    <a:solidFill>
                      <a:srgbClr val="FFFFFF"/>
                    </a:solidFill>
                  </a:tcPr>
                </a:tc>
              </a:tr>
              <a:tr h="342900">
                <a:tc>
                  <a:txBody>
                    <a:bodyPr/>
                    <a:lstStyle/>
                    <a:p>
                      <a:r>
                        <a:rPr sz="1300" b="1" i="0">
                          <a:solidFill>
                            <a:srgbClr val="0B1F3A"/>
                          </a:solidFill>
                          <a:latin typeface="Segoe UI"/>
                        </a:rPr>
                        <a:t>Terms</a:t>
                      </a:r>
                    </a:p>
                  </a:txBody>
                  <a:tcPr anchor="ctr">
                    <a:solidFill>
                      <a:srgbClr val="FFFFFF"/>
                    </a:solidFill>
                  </a:tcPr>
                </a:tc>
                <a:tc>
                  <a:txBody>
                    <a:bodyPr/>
                    <a:lstStyle/>
                    <a:p>
                      <a:r>
                        <a:rPr sz="1300" b="0" i="0">
                          <a:solidFill>
                            <a:srgbClr val="1A1A1A"/>
                          </a:solidFill>
                          <a:latin typeface="Segoe UI"/>
                        </a:rPr>
                        <a:t>1-for-25</a:t>
                      </a:r>
                    </a:p>
                  </a:txBody>
                  <a:tcPr anchor="ctr">
                    <a:solidFill>
                      <a:srgbClr val="FFFFFF"/>
                    </a:solidFill>
                  </a:tcPr>
                </a:tc>
                <a:tc>
                  <a:txBody>
                    <a:bodyPr/>
                    <a:lstStyle/>
                    <a:p>
                      <a:r>
                        <a:rPr sz="1300" b="0" i="0">
                          <a:solidFill>
                            <a:srgbClr val="1A1A1A"/>
                          </a:solidFill>
                          <a:latin typeface="Segoe UI"/>
                        </a:rPr>
                        <a:t>1-for-25</a:t>
                      </a:r>
                    </a:p>
                  </a:txBody>
                  <a:tcPr anchor="ctr">
                    <a:solidFill>
                      <a:srgbClr val="FFFFFF"/>
                    </a:solidFill>
                  </a:tcPr>
                </a:tc>
              </a:tr>
              <a:tr h="342900">
                <a:tc>
                  <a:txBody>
                    <a:bodyPr/>
                    <a:lstStyle/>
                    <a:p>
                      <a:r>
                        <a:rPr sz="1300" b="1" i="0">
                          <a:solidFill>
                            <a:srgbClr val="0B1F3A"/>
                          </a:solidFill>
                          <a:latin typeface="Segoe UI"/>
                        </a:rPr>
                        <a:t>Effective date</a:t>
                      </a:r>
                    </a:p>
                  </a:txBody>
                  <a:tcPr anchor="ctr">
                    <a:solidFill>
                      <a:srgbClr val="FFFFFF"/>
                    </a:solidFill>
                  </a:tcPr>
                </a:tc>
                <a:tc>
                  <a:txBody>
                    <a:bodyPr/>
                    <a:lstStyle/>
                    <a:p>
                      <a:r>
                        <a:rPr sz="1300" b="1" i="0">
                          <a:solidFill>
                            <a:srgbClr val="C2410C"/>
                          </a:solidFill>
                          <a:latin typeface="Segoe UI"/>
                        </a:rPr>
                        <a:t>2026-09-28</a:t>
                      </a:r>
                    </a:p>
                  </a:txBody>
                  <a:tcPr anchor="ctr">
                    <a:solidFill>
                      <a:srgbClr val="FFFFFF"/>
                    </a:solidFill>
                  </a:tcPr>
                </a:tc>
                <a:tc>
                  <a:txBody>
                    <a:bodyPr/>
                    <a:lstStyle/>
                    <a:p>
                      <a:r>
                        <a:rPr sz="1300" b="1" i="0">
                          <a:solidFill>
                            <a:srgbClr val="C2410C"/>
                          </a:solidFill>
                          <a:latin typeface="Segoe UI"/>
                        </a:rPr>
                        <a:t>2026-09-29</a:t>
                      </a:r>
                    </a:p>
                  </a:txBody>
                  <a:tcPr anchor="ctr">
                    <a:solidFill>
                      <a:srgbClr val="FFFFFF"/>
                    </a:solidFill>
                  </a:tcPr>
                </a:tc>
              </a:tr>
            </a:tbl>
          </a:graphicData>
        </a:graphic>
      </p:graphicFrame>
      <p:sp>
        <p:nvSpPr>
          <p:cNvPr id="11" name="TextBox 10"/>
          <p:cNvSpPr txBox="1"/>
          <p:nvPr/>
        </p:nvSpPr>
        <p:spPr>
          <a:xfrm>
            <a:off x="6035040" y="3383280"/>
            <a:ext cx="5516575" cy="914400"/>
          </a:xfrm>
          <a:prstGeom prst="rect">
            <a:avLst/>
          </a:prstGeom>
          <a:noFill/>
        </p:spPr>
        <p:txBody>
          <a:bodyPr wrap="square">
            <a:spAutoFit/>
          </a:bodyPr>
          <a:lstStyle/>
          <a:p>
            <a:pPr>
              <a:spcAft>
                <a:spcPts val="300"/>
              </a:spcAft>
            </a:pPr>
            <a:r>
              <a:rPr sz="1300" b="1" i="0">
                <a:solidFill>
                  <a:srgbClr val="0B1F3A"/>
                </a:solidFill>
                <a:latin typeface="Segoe UI"/>
              </a:rPr>
              <a:t>Issuer release: </a:t>
            </a:r>
            <a:r>
              <a:rPr sz="1300" b="0" i="0">
                <a:solidFill>
                  <a:srgbClr val="1A1A1A"/>
                </a:solidFill>
                <a:latin typeface="Segoe UI"/>
              </a:rPr>
              <a:t>effective Sep 28 at 5:00 pm Eastern. Split-adjusted trading starts Sep 29.</a:t>
            </a:r>
          </a:p>
          <a:p>
            <a:pPr>
              <a:spcAft>
                <a:spcPts val="300"/>
              </a:spcAft>
            </a:pPr>
            <a:r>
              <a:rPr sz="1300" b="0" i="0">
                <a:solidFill>
                  <a:srgbClr val="1A1A1A"/>
                </a:solidFill>
                <a:latin typeface="Segoe UI"/>
              </a:rPr>
              <a:t>Both vendors can be right. They mean two different things by "effective".</a:t>
            </a:r>
          </a:p>
        </p:txBody>
      </p:sp>
      <p:sp>
        <p:nvSpPr>
          <p:cNvPr id="12" name="TextBox 11"/>
          <p:cNvSpPr txBox="1"/>
          <p:nvPr/>
        </p:nvSpPr>
        <p:spPr>
          <a:xfrm>
            <a:off x="457200" y="4526280"/>
            <a:ext cx="11277295" cy="365760"/>
          </a:xfrm>
          <a:prstGeom prst="rect">
            <a:avLst/>
          </a:prstGeom>
          <a:noFill/>
        </p:spPr>
        <p:txBody>
          <a:bodyPr wrap="square" anchor="t">
            <a:spAutoFit/>
          </a:bodyPr>
          <a:lstStyle/>
          <a:p>
            <a:pPr algn="l"/>
            <a:r>
              <a:rPr sz="1600" b="1" i="0">
                <a:solidFill>
                  <a:srgbClr val="0B1F3A"/>
                </a:solidFill>
                <a:latin typeface="Segoe UI"/>
              </a:rPr>
              <a:t>What a wrong or late fix breaks</a:t>
            </a:r>
          </a:p>
        </p:txBody>
      </p:sp>
      <p:sp>
        <p:nvSpPr>
          <p:cNvPr id="13" name="Rectangle 12"/>
          <p:cNvSpPr/>
          <p:nvPr/>
        </p:nvSpPr>
        <p:spPr>
          <a:xfrm>
            <a:off x="457200" y="4937760"/>
            <a:ext cx="2682163" cy="11430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5029200"/>
            <a:ext cx="2316403" cy="411480"/>
          </a:xfrm>
          <a:prstGeom prst="rect">
            <a:avLst/>
          </a:prstGeom>
          <a:noFill/>
        </p:spPr>
        <p:txBody>
          <a:bodyPr wrap="square" anchor="t">
            <a:spAutoFit/>
          </a:bodyPr>
          <a:lstStyle/>
          <a:p>
            <a:pPr algn="l"/>
            <a:r>
              <a:rPr sz="1400" b="1" i="0">
                <a:solidFill>
                  <a:srgbClr val="C2410C"/>
                </a:solidFill>
                <a:latin typeface="Segoe UI"/>
              </a:rPr>
              <a:t>NAV check trips</a:t>
            </a:r>
          </a:p>
        </p:txBody>
      </p:sp>
      <p:sp>
        <p:nvSpPr>
          <p:cNvPr id="15" name="TextBox 14"/>
          <p:cNvSpPr txBox="1"/>
          <p:nvPr/>
        </p:nvSpPr>
        <p:spPr>
          <a:xfrm>
            <a:off x="640080" y="5486400"/>
            <a:ext cx="2316403" cy="502920"/>
          </a:xfrm>
          <a:prstGeom prst="rect">
            <a:avLst/>
          </a:prstGeom>
          <a:noFill/>
        </p:spPr>
        <p:txBody>
          <a:bodyPr wrap="square">
            <a:spAutoFit/>
          </a:bodyPr>
          <a:lstStyle/>
          <a:p>
            <a:pPr>
              <a:spcAft>
                <a:spcPts val="600"/>
              </a:spcAft>
            </a:pPr>
            <a:r>
              <a:rPr sz="1200" b="0" i="0">
                <a:solidFill>
                  <a:srgbClr val="1A1A1A"/>
                </a:solidFill>
                <a:latin typeface="Segoe UI"/>
              </a:rPr>
              <a:t>Price and share count are out of step by 25 times.</a:t>
            </a:r>
          </a:p>
        </p:txBody>
      </p:sp>
      <p:sp>
        <p:nvSpPr>
          <p:cNvPr id="16" name="Rectangle 15"/>
          <p:cNvSpPr/>
          <p:nvPr/>
        </p:nvSpPr>
        <p:spPr>
          <a:xfrm>
            <a:off x="3322243" y="4937760"/>
            <a:ext cx="2682163" cy="11430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5123" y="5029200"/>
            <a:ext cx="2316403" cy="411480"/>
          </a:xfrm>
          <a:prstGeom prst="rect">
            <a:avLst/>
          </a:prstGeom>
          <a:noFill/>
        </p:spPr>
        <p:txBody>
          <a:bodyPr wrap="square" anchor="t">
            <a:spAutoFit/>
          </a:bodyPr>
          <a:lstStyle/>
          <a:p>
            <a:pPr algn="l"/>
            <a:r>
              <a:rPr sz="1400" b="1" i="0">
                <a:solidFill>
                  <a:srgbClr val="C2410C"/>
                </a:solidFill>
                <a:latin typeface="Segoe UI"/>
              </a:rPr>
              <a:t>Orders reject</a:t>
            </a:r>
          </a:p>
        </p:txBody>
      </p:sp>
      <p:sp>
        <p:nvSpPr>
          <p:cNvPr id="18" name="TextBox 17"/>
          <p:cNvSpPr txBox="1"/>
          <p:nvPr/>
        </p:nvSpPr>
        <p:spPr>
          <a:xfrm>
            <a:off x="3505123" y="5486400"/>
            <a:ext cx="2316403" cy="502920"/>
          </a:xfrm>
          <a:prstGeom prst="rect">
            <a:avLst/>
          </a:prstGeom>
          <a:noFill/>
        </p:spPr>
        <p:txBody>
          <a:bodyPr wrap="square">
            <a:spAutoFit/>
          </a:bodyPr>
          <a:lstStyle/>
          <a:p>
            <a:pPr>
              <a:spcAft>
                <a:spcPts val="600"/>
              </a:spcAft>
            </a:pPr>
            <a:r>
              <a:rPr sz="1200" b="0" i="0">
                <a:solidFill>
                  <a:srgbClr val="1A1A1A"/>
                </a:solidFill>
                <a:latin typeface="Segoe UI"/>
              </a:rPr>
              <a:t>The broker refuses an order on a retired CUSIP.</a:t>
            </a:r>
          </a:p>
        </p:txBody>
      </p:sp>
      <p:sp>
        <p:nvSpPr>
          <p:cNvPr id="19" name="Rectangle 18"/>
          <p:cNvSpPr/>
          <p:nvPr/>
        </p:nvSpPr>
        <p:spPr>
          <a:xfrm>
            <a:off x="6187287" y="4937760"/>
            <a:ext cx="2682163" cy="11430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70167" y="5029200"/>
            <a:ext cx="2316403" cy="411480"/>
          </a:xfrm>
          <a:prstGeom prst="rect">
            <a:avLst/>
          </a:prstGeom>
          <a:noFill/>
        </p:spPr>
        <p:txBody>
          <a:bodyPr wrap="square" anchor="t">
            <a:spAutoFit/>
          </a:bodyPr>
          <a:lstStyle/>
          <a:p>
            <a:pPr algn="l"/>
            <a:r>
              <a:rPr sz="1400" b="1" i="0">
                <a:solidFill>
                  <a:srgbClr val="C2410C"/>
                </a:solidFill>
                <a:latin typeface="Segoe UI"/>
              </a:rPr>
              <a:t>Compliance misfires</a:t>
            </a:r>
          </a:p>
        </p:txBody>
      </p:sp>
      <p:sp>
        <p:nvSpPr>
          <p:cNvPr id="21" name="TextBox 20"/>
          <p:cNvSpPr txBox="1"/>
          <p:nvPr/>
        </p:nvSpPr>
        <p:spPr>
          <a:xfrm>
            <a:off x="6370167" y="5486400"/>
            <a:ext cx="2316403" cy="502920"/>
          </a:xfrm>
          <a:prstGeom prst="rect">
            <a:avLst/>
          </a:prstGeom>
          <a:noFill/>
        </p:spPr>
        <p:txBody>
          <a:bodyPr wrap="square">
            <a:spAutoFit/>
          </a:bodyPr>
          <a:lstStyle/>
          <a:p>
            <a:pPr>
              <a:spcAft>
                <a:spcPts val="600"/>
              </a:spcAft>
            </a:pPr>
            <a:r>
              <a:rPr sz="1200" b="0" i="0">
                <a:solidFill>
                  <a:srgbClr val="1A1A1A"/>
                </a:solidFill>
                <a:latin typeface="Segoe UI"/>
              </a:rPr>
              <a:t>Ownership limits divide by the wrong share count.</a:t>
            </a:r>
          </a:p>
        </p:txBody>
      </p:sp>
      <p:sp>
        <p:nvSpPr>
          <p:cNvPr id="22" name="Rectangle 21"/>
          <p:cNvSpPr/>
          <p:nvPr/>
        </p:nvSpPr>
        <p:spPr>
          <a:xfrm>
            <a:off x="9052331" y="4937760"/>
            <a:ext cx="2682163" cy="114300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35211" y="5029200"/>
            <a:ext cx="2316403" cy="411480"/>
          </a:xfrm>
          <a:prstGeom prst="rect">
            <a:avLst/>
          </a:prstGeom>
          <a:noFill/>
        </p:spPr>
        <p:txBody>
          <a:bodyPr wrap="square" anchor="t">
            <a:spAutoFit/>
          </a:bodyPr>
          <a:lstStyle/>
          <a:p>
            <a:pPr algn="l"/>
            <a:r>
              <a:rPr sz="1400" b="1" i="0">
                <a:solidFill>
                  <a:srgbClr val="C2410C"/>
                </a:solidFill>
                <a:latin typeface="Segoe UI"/>
              </a:rPr>
              <a:t>Dead bonds stay open</a:t>
            </a:r>
          </a:p>
        </p:txBody>
      </p:sp>
      <p:sp>
        <p:nvSpPr>
          <p:cNvPr id="24" name="TextBox 23"/>
          <p:cNvSpPr txBox="1"/>
          <p:nvPr/>
        </p:nvSpPr>
        <p:spPr>
          <a:xfrm>
            <a:off x="9235211" y="5486400"/>
            <a:ext cx="2316403" cy="502920"/>
          </a:xfrm>
          <a:prstGeom prst="rect">
            <a:avLst/>
          </a:prstGeom>
          <a:noFill/>
        </p:spPr>
        <p:txBody>
          <a:bodyPr wrap="square">
            <a:spAutoFit/>
          </a:bodyPr>
          <a:lstStyle/>
          <a:p>
            <a:pPr>
              <a:spcAft>
                <a:spcPts val="600"/>
              </a:spcAft>
            </a:pPr>
            <a:r>
              <a:rPr sz="1200" b="0" i="0">
                <a:solidFill>
                  <a:srgbClr val="1A1A1A"/>
                </a:solidFill>
                <a:latin typeface="Segoe UI"/>
              </a:rPr>
              <a:t>A bond redeemed Sep 15 is still live at one vendor.</a:t>
            </a:r>
          </a:p>
        </p:txBody>
      </p:sp>
      <p:sp>
        <p:nvSpPr>
          <p:cNvPr id="25" name="TextBox 24"/>
          <p:cNvSpPr txBox="1"/>
          <p:nvPr/>
        </p:nvSpPr>
        <p:spPr>
          <a:xfrm>
            <a:off x="457200" y="6172200"/>
            <a:ext cx="11277295" cy="548640"/>
          </a:xfrm>
          <a:prstGeom prst="rect">
            <a:avLst/>
          </a:prstGeom>
          <a:noFill/>
        </p:spPr>
        <p:txBody>
          <a:bodyPr wrap="square" anchor="t">
            <a:spAutoFit/>
          </a:bodyPr>
          <a:lstStyle/>
          <a:p>
            <a:pPr algn="l"/>
            <a:r>
              <a:rPr sz="1000" b="0" i="1">
                <a:solidFill>
                  <a:srgbClr val="5B6573"/>
                </a:solidFill>
                <a:latin typeface="Segoe UI"/>
              </a:rPr>
              <a:t>Break: a row where two vendors disagree. CUSIP: the 9-character US security ID. NAV: a fund's daily net asset value. Vendor A and B values are illustrative. The event and the issuer release are real.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0545775" cy="1051560"/>
          </a:xfrm>
          <a:prstGeom prst="rect">
            <a:avLst/>
          </a:prstGeom>
          <a:noFill/>
        </p:spPr>
        <p:txBody>
          <a:bodyPr wrap="square" anchor="ctr">
            <a:spAutoFit/>
          </a:bodyPr>
          <a:lstStyle/>
          <a:p>
            <a:pPr algn="l"/>
            <a:r>
              <a:rPr sz="2600" b="1" i="0">
                <a:solidFill>
                  <a:srgbClr val="FFFFFF"/>
                </a:solidFill>
                <a:latin typeface="Segoe UI"/>
              </a:rPr>
              <a:t>The proof is on the public web. Exa finds what the feeds missed.</a:t>
            </a:r>
          </a:p>
        </p:txBody>
      </p:sp>
      <p:sp>
        <p:nvSpPr>
          <p:cNvPr id="4" name="TextBox 3"/>
          <p:cNvSpPr txBox="1"/>
          <p:nvPr/>
        </p:nvSpPr>
        <p:spPr>
          <a:xfrm>
            <a:off x="11002975" y="0"/>
            <a:ext cx="731520" cy="1051560"/>
          </a:xfrm>
          <a:prstGeom prst="rect">
            <a:avLst/>
          </a:prstGeom>
          <a:noFill/>
        </p:spPr>
        <p:txBody>
          <a:bodyPr wrap="square" anchor="ctr">
            <a:spAutoFit/>
          </a:bodyPr>
          <a:lstStyle/>
          <a:p>
            <a:pPr algn="r"/>
            <a:r>
              <a:rPr sz="1200" b="0" i="0">
                <a:solidFill>
                  <a:srgbClr val="FFFFFF"/>
                </a:solidFill>
                <a:latin typeface="Segoe UI"/>
              </a:rPr>
              <a:t>3 / 4</a:t>
            </a:r>
          </a:p>
        </p:txBody>
      </p:sp>
      <p:sp>
        <p:nvSpPr>
          <p:cNvPr id="5" name="Rectangle 4"/>
          <p:cNvSpPr/>
          <p:nvPr/>
        </p:nvSpPr>
        <p:spPr>
          <a:xfrm>
            <a:off x="457200" y="1325880"/>
            <a:ext cx="1999427" cy="17830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633667" cy="411480"/>
          </a:xfrm>
          <a:prstGeom prst="rect">
            <a:avLst/>
          </a:prstGeom>
          <a:noFill/>
        </p:spPr>
        <p:txBody>
          <a:bodyPr wrap="square" anchor="t">
            <a:spAutoFit/>
          </a:bodyPr>
          <a:lstStyle/>
          <a:p>
            <a:pPr algn="l"/>
            <a:r>
              <a:rPr sz="1400" b="1" i="0">
                <a:solidFill>
                  <a:srgbClr val="0B1F3A"/>
                </a:solidFill>
                <a:latin typeface="Segoe UI"/>
              </a:rPr>
              <a:t>1. Watchlist</a:t>
            </a:r>
          </a:p>
        </p:txBody>
      </p:sp>
      <p:sp>
        <p:nvSpPr>
          <p:cNvPr id="7" name="TextBox 6"/>
          <p:cNvSpPr txBox="1"/>
          <p:nvPr/>
        </p:nvSpPr>
        <p:spPr>
          <a:xfrm>
            <a:off x="640080" y="2130552"/>
            <a:ext cx="1633667" cy="886968"/>
          </a:xfrm>
          <a:prstGeom prst="rect">
            <a:avLst/>
          </a:prstGeom>
          <a:noFill/>
        </p:spPr>
        <p:txBody>
          <a:bodyPr wrap="square">
            <a:spAutoFit/>
          </a:bodyPr>
          <a:lstStyle/>
          <a:p>
            <a:pPr>
              <a:spcAft>
                <a:spcPts val="600"/>
              </a:spcAft>
            </a:pPr>
            <a:r>
              <a:rPr sz="1200" b="0" i="0">
                <a:solidFill>
                  <a:srgbClr val="1A1A1A"/>
                </a:solidFill>
                <a:latin typeface="Segoe UI"/>
              </a:rPr>
              <a:t>The held securities. Holdings stay local; only the public identity goes out.</a:t>
            </a:r>
          </a:p>
        </p:txBody>
      </p:sp>
      <p:sp>
        <p:nvSpPr>
          <p:cNvPr id="8" name="Right Arrow 7"/>
          <p:cNvSpPr/>
          <p:nvPr/>
        </p:nvSpPr>
        <p:spPr>
          <a:xfrm>
            <a:off x="2493203" y="1965960"/>
            <a:ext cx="246888" cy="32004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76667" y="1325880"/>
            <a:ext cx="1999427" cy="17830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59547" y="1417320"/>
            <a:ext cx="1633667" cy="411480"/>
          </a:xfrm>
          <a:prstGeom prst="rect">
            <a:avLst/>
          </a:prstGeom>
          <a:noFill/>
        </p:spPr>
        <p:txBody>
          <a:bodyPr wrap="square" anchor="t">
            <a:spAutoFit/>
          </a:bodyPr>
          <a:lstStyle/>
          <a:p>
            <a:pPr algn="l"/>
            <a:r>
              <a:rPr sz="1400" b="1" i="0">
                <a:solidFill>
                  <a:srgbClr val="1F6FEB"/>
                </a:solidFill>
                <a:latin typeface="Segoe UI"/>
              </a:rPr>
              <a:t>2. One Exa search each</a:t>
            </a:r>
          </a:p>
        </p:txBody>
      </p:sp>
      <p:sp>
        <p:nvSpPr>
          <p:cNvPr id="11" name="TextBox 10"/>
          <p:cNvSpPr txBox="1"/>
          <p:nvPr/>
        </p:nvSpPr>
        <p:spPr>
          <a:xfrm>
            <a:off x="2959547" y="2130552"/>
            <a:ext cx="1633667" cy="886968"/>
          </a:xfrm>
          <a:prstGeom prst="rect">
            <a:avLst/>
          </a:prstGeom>
          <a:noFill/>
        </p:spPr>
        <p:txBody>
          <a:bodyPr wrap="square">
            <a:spAutoFit/>
          </a:bodyPr>
          <a:lstStyle/>
          <a:p>
            <a:pPr>
              <a:spcAft>
                <a:spcPts val="600"/>
              </a:spcAft>
            </a:pPr>
            <a:r>
              <a:rPr sz="1200" b="0" i="0">
                <a:solidFill>
                  <a:srgbClr val="1A1A1A"/>
                </a:solidFill>
                <a:latin typeface="Segoe UI"/>
              </a:rPr>
              <a:t>Recent corporate actions by this issuer. The event is not named.</a:t>
            </a:r>
          </a:p>
        </p:txBody>
      </p:sp>
      <p:sp>
        <p:nvSpPr>
          <p:cNvPr id="12" name="Right Arrow 11"/>
          <p:cNvSpPr/>
          <p:nvPr/>
        </p:nvSpPr>
        <p:spPr>
          <a:xfrm>
            <a:off x="4812670" y="1965960"/>
            <a:ext cx="246888" cy="32004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96134" y="1325880"/>
            <a:ext cx="1999427" cy="17830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9014" y="1417320"/>
            <a:ext cx="1633667" cy="411480"/>
          </a:xfrm>
          <a:prstGeom prst="rect">
            <a:avLst/>
          </a:prstGeom>
          <a:noFill/>
        </p:spPr>
        <p:txBody>
          <a:bodyPr wrap="square" anchor="t">
            <a:spAutoFit/>
          </a:bodyPr>
          <a:lstStyle/>
          <a:p>
            <a:pPr algn="l"/>
            <a:r>
              <a:rPr sz="1400" b="1" i="0">
                <a:solidFill>
                  <a:srgbClr val="1F6FEB"/>
                </a:solidFill>
                <a:latin typeface="Segoe UI"/>
              </a:rPr>
              <a:t>3. Proof attached</a:t>
            </a:r>
          </a:p>
        </p:txBody>
      </p:sp>
      <p:sp>
        <p:nvSpPr>
          <p:cNvPr id="15" name="TextBox 14"/>
          <p:cNvSpPr txBox="1"/>
          <p:nvPr/>
        </p:nvSpPr>
        <p:spPr>
          <a:xfrm>
            <a:off x="5279014" y="2130552"/>
            <a:ext cx="1633667" cy="886968"/>
          </a:xfrm>
          <a:prstGeom prst="rect">
            <a:avLst/>
          </a:prstGeom>
          <a:noFill/>
        </p:spPr>
        <p:txBody>
          <a:bodyPr wrap="square">
            <a:spAutoFit/>
          </a:bodyPr>
          <a:lstStyle/>
          <a:p>
            <a:pPr>
              <a:spcAft>
                <a:spcPts val="600"/>
              </a:spcAft>
            </a:pPr>
            <a:r>
              <a:rPr sz="1200" b="0" i="0">
                <a:solidFill>
                  <a:srgbClr val="1A1A1A"/>
                </a:solidFill>
                <a:latin typeface="Segoe UI"/>
              </a:rPr>
              <a:t>Each announcement comes back as fields, a passage and a link.</a:t>
            </a:r>
          </a:p>
        </p:txBody>
      </p:sp>
      <p:sp>
        <p:nvSpPr>
          <p:cNvPr id="16" name="Right Arrow 15"/>
          <p:cNvSpPr/>
          <p:nvPr/>
        </p:nvSpPr>
        <p:spPr>
          <a:xfrm>
            <a:off x="7132137" y="1965960"/>
            <a:ext cx="246888" cy="32004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15601" y="1325880"/>
            <a:ext cx="1999427" cy="17830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98481" y="1417320"/>
            <a:ext cx="1633667" cy="411480"/>
          </a:xfrm>
          <a:prstGeom prst="rect">
            <a:avLst/>
          </a:prstGeom>
          <a:noFill/>
        </p:spPr>
        <p:txBody>
          <a:bodyPr wrap="square" anchor="t">
            <a:spAutoFit/>
          </a:bodyPr>
          <a:lstStyle/>
          <a:p>
            <a:pPr algn="l"/>
            <a:r>
              <a:rPr sz="1400" b="1" i="0">
                <a:solidFill>
                  <a:srgbClr val="0B1F3A"/>
                </a:solidFill>
                <a:latin typeface="Segoe UI"/>
              </a:rPr>
              <a:t>4. Code matches</a:t>
            </a:r>
          </a:p>
        </p:txBody>
      </p:sp>
      <p:sp>
        <p:nvSpPr>
          <p:cNvPr id="19" name="TextBox 18"/>
          <p:cNvSpPr txBox="1"/>
          <p:nvPr/>
        </p:nvSpPr>
        <p:spPr>
          <a:xfrm>
            <a:off x="7598481" y="2130552"/>
            <a:ext cx="1633667" cy="886968"/>
          </a:xfrm>
          <a:prstGeom prst="rect">
            <a:avLst/>
          </a:prstGeom>
          <a:noFill/>
        </p:spPr>
        <p:txBody>
          <a:bodyPr wrap="square">
            <a:spAutoFit/>
          </a:bodyPr>
          <a:lstStyle/>
          <a:p>
            <a:pPr>
              <a:spcAft>
                <a:spcPts val="600"/>
              </a:spcAft>
            </a:pPr>
            <a:r>
              <a:rPr sz="1200" b="0" i="0">
                <a:solidFill>
                  <a:srgbClr val="1A1A1A"/>
                </a:solidFill>
                <a:latin typeface="Segoe UI"/>
              </a:rPr>
              <a:t>To the holdings and to both vendor records. No model makes the call.</a:t>
            </a:r>
          </a:p>
        </p:txBody>
      </p:sp>
      <p:sp>
        <p:nvSpPr>
          <p:cNvPr id="20" name="Right Arrow 19"/>
          <p:cNvSpPr/>
          <p:nvPr/>
        </p:nvSpPr>
        <p:spPr>
          <a:xfrm>
            <a:off x="9451604" y="1965960"/>
            <a:ext cx="246888" cy="320040"/>
          </a:xfrm>
          <a:prstGeom prst="rightArrow">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735068" y="1325880"/>
            <a:ext cx="1999427" cy="178308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17948" y="1417320"/>
            <a:ext cx="1633667" cy="411480"/>
          </a:xfrm>
          <a:prstGeom prst="rect">
            <a:avLst/>
          </a:prstGeom>
          <a:noFill/>
        </p:spPr>
        <p:txBody>
          <a:bodyPr wrap="square" anchor="t">
            <a:spAutoFit/>
          </a:bodyPr>
          <a:lstStyle/>
          <a:p>
            <a:pPr algn="l"/>
            <a:r>
              <a:rPr sz="1400" b="1" i="0">
                <a:solidFill>
                  <a:srgbClr val="0B1F3A"/>
                </a:solidFill>
                <a:latin typeface="Segoe UI"/>
              </a:rPr>
              <a:t>5. New finding</a:t>
            </a:r>
          </a:p>
        </p:txBody>
      </p:sp>
      <p:sp>
        <p:nvSpPr>
          <p:cNvPr id="23" name="TextBox 22"/>
          <p:cNvSpPr txBox="1"/>
          <p:nvPr/>
        </p:nvSpPr>
        <p:spPr>
          <a:xfrm>
            <a:off x="9917948" y="2130552"/>
            <a:ext cx="1633667" cy="886968"/>
          </a:xfrm>
          <a:prstGeom prst="rect">
            <a:avLst/>
          </a:prstGeom>
          <a:noFill/>
        </p:spPr>
        <p:txBody>
          <a:bodyPr wrap="square">
            <a:spAutoFit/>
          </a:bodyPr>
          <a:lstStyle/>
          <a:p>
            <a:pPr>
              <a:spcAft>
                <a:spcPts val="600"/>
              </a:spcAft>
            </a:pPr>
            <a:r>
              <a:rPr sz="1200" b="0" i="0">
                <a:solidFill>
                  <a:srgbClr val="1A1A1A"/>
                </a:solidFill>
                <a:latin typeface="Segoe UI"/>
              </a:rPr>
              <a:t>An event neither vendor has lands in the queue. The analyst approves.</a:t>
            </a:r>
          </a:p>
        </p:txBody>
      </p:sp>
      <p:sp>
        <p:nvSpPr>
          <p:cNvPr id="24" name="TextBox 23"/>
          <p:cNvSpPr txBox="1"/>
          <p:nvPr/>
        </p:nvSpPr>
        <p:spPr>
          <a:xfrm>
            <a:off x="457200" y="3200400"/>
            <a:ext cx="11277295" cy="365760"/>
          </a:xfrm>
          <a:prstGeom prst="rect">
            <a:avLst/>
          </a:prstGeom>
          <a:noFill/>
        </p:spPr>
        <p:txBody>
          <a:bodyPr wrap="square" anchor="t">
            <a:spAutoFit/>
          </a:bodyPr>
          <a:lstStyle/>
          <a:p>
            <a:pPr algn="l"/>
            <a:r>
              <a:rPr sz="1300" b="1" i="0">
                <a:solidFill>
                  <a:srgbClr val="15803D"/>
                </a:solidFill>
                <a:latin typeface="Segoe UI"/>
              </a:rPr>
              <a:t>Measured 2026-09-29 on live calls: every field filled in 2 to 4 seconds, $0.007 per search, a source link on every field.</a:t>
            </a:r>
          </a:p>
        </p:txBody>
      </p:sp>
      <p:sp>
        <p:nvSpPr>
          <p:cNvPr id="25" name="Rectangle 24"/>
          <p:cNvSpPr/>
          <p:nvPr/>
        </p:nvSpPr>
        <p:spPr>
          <a:xfrm>
            <a:off x="457200" y="3657600"/>
            <a:ext cx="3576218" cy="24231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749040"/>
            <a:ext cx="3210458" cy="411480"/>
          </a:xfrm>
          <a:prstGeom prst="rect">
            <a:avLst/>
          </a:prstGeom>
          <a:noFill/>
        </p:spPr>
        <p:txBody>
          <a:bodyPr wrap="square" anchor="t">
            <a:spAutoFit/>
          </a:bodyPr>
          <a:lstStyle/>
          <a:p>
            <a:pPr algn="l"/>
            <a:r>
              <a:rPr sz="1500" b="1" i="0">
                <a:solidFill>
                  <a:srgbClr val="0B1F3A"/>
                </a:solidFill>
                <a:latin typeface="Segoe UI"/>
              </a:rPr>
              <a:t>Two jobs, one search</a:t>
            </a:r>
          </a:p>
        </p:txBody>
      </p:sp>
      <p:sp>
        <p:nvSpPr>
          <p:cNvPr id="27" name="TextBox 26"/>
          <p:cNvSpPr txBox="1"/>
          <p:nvPr/>
        </p:nvSpPr>
        <p:spPr>
          <a:xfrm>
            <a:off x="640080" y="4206240"/>
            <a:ext cx="3210458" cy="1783080"/>
          </a:xfrm>
          <a:prstGeom prst="rect">
            <a:avLst/>
          </a:prstGeom>
          <a:noFill/>
        </p:spPr>
        <p:txBody>
          <a:bodyPr wrap="square">
            <a:spAutoFit/>
          </a:bodyPr>
          <a:lstStyle/>
          <a:p>
            <a:pPr>
              <a:spcAft>
                <a:spcPts val="600"/>
              </a:spcAft>
            </a:pPr>
            <a:r>
              <a:rPr sz="1300" b="0" i="0">
                <a:solidFill>
                  <a:srgbClr val="1A1A1A"/>
                </a:solidFill>
                <a:latin typeface="Segoe UI"/>
              </a:rPr>
              <a:t>Resolve a known break: the issuer's words and the exchange notice settle what the two licensed feeds cannot.</a:t>
            </a:r>
          </a:p>
          <a:p>
            <a:pPr>
              <a:spcAft>
                <a:spcPts val="600"/>
              </a:spcAft>
            </a:pPr>
            <a:r>
              <a:rPr sz="1300" b="0" i="0">
                <a:solidFill>
                  <a:srgbClr val="1A1A1A"/>
                </a:solidFill>
                <a:latin typeface="Segoe UI"/>
              </a:rPr>
              <a:t>Find an unknown event: the same search, with no event named, surfaces an announcement neither feed carries yet.</a:t>
            </a:r>
          </a:p>
          <a:p>
            <a:pPr>
              <a:spcAft>
                <a:spcPts val="600"/>
              </a:spcAft>
            </a:pPr>
            <a:r>
              <a:rPr sz="1300" b="0" i="0">
                <a:solidFill>
                  <a:srgbClr val="1A1A1A"/>
                </a:solidFill>
                <a:latin typeface="Segoe UI"/>
              </a:rPr>
              <a:t>The licensed feeds stay the system of record.</a:t>
            </a:r>
          </a:p>
        </p:txBody>
      </p:sp>
      <p:sp>
        <p:nvSpPr>
          <p:cNvPr id="28" name="Rectangle 27"/>
          <p:cNvSpPr/>
          <p:nvPr/>
        </p:nvSpPr>
        <p:spPr>
          <a:xfrm>
            <a:off x="4307738" y="3657600"/>
            <a:ext cx="3576218" cy="24231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90618" y="3749040"/>
            <a:ext cx="3210458" cy="411480"/>
          </a:xfrm>
          <a:prstGeom prst="rect">
            <a:avLst/>
          </a:prstGeom>
          <a:noFill/>
        </p:spPr>
        <p:txBody>
          <a:bodyPr wrap="square" anchor="t">
            <a:spAutoFit/>
          </a:bodyPr>
          <a:lstStyle/>
          <a:p>
            <a:pPr algn="l"/>
            <a:r>
              <a:rPr sz="1500" b="1" i="0">
                <a:solidFill>
                  <a:srgbClr val="0B1F3A"/>
                </a:solidFill>
                <a:latin typeface="Segoe UI"/>
              </a:rPr>
              <a:t>Why Exa, not a scraper</a:t>
            </a:r>
          </a:p>
        </p:txBody>
      </p:sp>
      <p:sp>
        <p:nvSpPr>
          <p:cNvPr id="30" name="TextBox 29"/>
          <p:cNvSpPr txBox="1"/>
          <p:nvPr/>
        </p:nvSpPr>
        <p:spPr>
          <a:xfrm>
            <a:off x="4490618" y="4206240"/>
            <a:ext cx="3210458" cy="1783080"/>
          </a:xfrm>
          <a:prstGeom prst="rect">
            <a:avLst/>
          </a:prstGeom>
          <a:noFill/>
        </p:spPr>
        <p:txBody>
          <a:bodyPr wrap="square">
            <a:spAutoFit/>
          </a:bodyPr>
          <a:lstStyle/>
          <a:p>
            <a:pPr>
              <a:spcAft>
                <a:spcPts val="600"/>
              </a:spcAft>
            </a:pPr>
            <a:r>
              <a:rPr sz="1300" b="0" i="0">
                <a:solidFill>
                  <a:srgbClr val="1A1A1A"/>
                </a:solidFill>
                <a:latin typeface="Segoe UI"/>
              </a:rPr>
              <a:t>One exchange page is easy to scrape. The long tail is not: thousands of issuer sites, bond redemption notices, SEC filings.</a:t>
            </a:r>
          </a:p>
          <a:p>
            <a:pPr>
              <a:spcAft>
                <a:spcPts val="600"/>
              </a:spcAft>
            </a:pPr>
            <a:r>
              <a:rPr sz="1300" b="0" i="0">
                <a:solidFill>
                  <a:srgbClr val="1A1A1A"/>
                </a:solidFill>
                <a:latin typeface="Segoe UI"/>
              </a:rPr>
              <a:t>One plain-language search covers all of them and returns structured fields, so there is no scraper per site to maintain.</a:t>
            </a:r>
          </a:p>
        </p:txBody>
      </p:sp>
      <p:sp>
        <p:nvSpPr>
          <p:cNvPr id="31" name="Rectangle 30"/>
          <p:cNvSpPr/>
          <p:nvPr/>
        </p:nvSpPr>
        <p:spPr>
          <a:xfrm>
            <a:off x="8158276" y="3657600"/>
            <a:ext cx="3576218" cy="24231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41156" y="3749040"/>
            <a:ext cx="3210458" cy="411480"/>
          </a:xfrm>
          <a:prstGeom prst="rect">
            <a:avLst/>
          </a:prstGeom>
          <a:noFill/>
        </p:spPr>
        <p:txBody>
          <a:bodyPr wrap="square" anchor="t">
            <a:spAutoFit/>
          </a:bodyPr>
          <a:lstStyle/>
          <a:p>
            <a:pPr algn="l"/>
            <a:r>
              <a:rPr sz="1500" b="1" i="0">
                <a:solidFill>
                  <a:srgbClr val="0B1F3A"/>
                </a:solidFill>
                <a:latin typeface="Segoe UI"/>
              </a:rPr>
              <a:t>Built to pass review</a:t>
            </a:r>
          </a:p>
        </p:txBody>
      </p:sp>
      <p:sp>
        <p:nvSpPr>
          <p:cNvPr id="33" name="TextBox 32"/>
          <p:cNvSpPr txBox="1"/>
          <p:nvPr/>
        </p:nvSpPr>
        <p:spPr>
          <a:xfrm>
            <a:off x="8341156" y="4206240"/>
            <a:ext cx="3210458" cy="1783080"/>
          </a:xfrm>
          <a:prstGeom prst="rect">
            <a:avLst/>
          </a:prstGeom>
          <a:noFill/>
        </p:spPr>
        <p:txBody>
          <a:bodyPr wrap="square">
            <a:spAutoFit/>
          </a:bodyPr>
          <a:lstStyle/>
          <a:p>
            <a:pPr>
              <a:spcAft>
                <a:spcPts val="600"/>
              </a:spcAft>
            </a:pPr>
            <a:r>
              <a:rPr sz="1300" b="0" i="0">
                <a:solidFill>
                  <a:srgbClr val="1A1A1A"/>
                </a:solidFill>
                <a:latin typeface="Segoe UI"/>
              </a:rPr>
              <a:t>Code checks the page names the right security before any field is trusted. A missing value is shown as missing.</a:t>
            </a:r>
          </a:p>
          <a:p>
            <a:pPr>
              <a:spcAft>
                <a:spcPts val="600"/>
              </a:spcAft>
            </a:pPr>
            <a:r>
              <a:rPr sz="1300" b="0" i="0">
                <a:solidFill>
                  <a:srgbClr val="1A1A1A"/>
                </a:solidFill>
                <a:latin typeface="Segoe UI"/>
              </a:rPr>
              <a:t>An issuer release and its syndicated copy count as one source. Two sources means issuer plus exchange or SEC.</a:t>
            </a:r>
          </a:p>
          <a:p>
            <a:pPr>
              <a:spcAft>
                <a:spcPts val="600"/>
              </a:spcAft>
            </a:pPr>
            <a:r>
              <a:rPr sz="1300" b="0" i="0">
                <a:solidFill>
                  <a:srgbClr val="1A1A1A"/>
                </a:solidFill>
                <a:latin typeface="Segoe UI"/>
              </a:rPr>
              <a:t>Zero data retention is available on search, so lookups do not reveal holdings.</a:t>
            </a:r>
          </a:p>
        </p:txBody>
      </p:sp>
      <p:sp>
        <p:nvSpPr>
          <p:cNvPr id="34" name="TextBox 33"/>
          <p:cNvSpPr txBox="1"/>
          <p:nvPr/>
        </p:nvSpPr>
        <p:spPr>
          <a:xfrm>
            <a:off x="457200" y="6172200"/>
            <a:ext cx="11277295" cy="548640"/>
          </a:xfrm>
          <a:prstGeom prst="rect">
            <a:avLst/>
          </a:prstGeom>
          <a:noFill/>
        </p:spPr>
        <p:txBody>
          <a:bodyPr wrap="square" anchor="t">
            <a:spAutoFit/>
          </a:bodyPr>
          <a:lstStyle/>
          <a:p>
            <a:pPr algn="l"/>
            <a:r>
              <a:rPr sz="1000" b="0" i="1">
                <a:solidFill>
                  <a:srgbClr val="5B6573"/>
                </a:solidFill>
                <a:latin typeface="Segoe UI"/>
              </a:rPr>
              <a:t>Vendor records in the demo are simulated. Every announcement is real and retrieved by Exa. Nothing found is not proof that nothing happened.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0"/>
            <a:ext cx="10545775" cy="1051560"/>
          </a:xfrm>
          <a:prstGeom prst="rect">
            <a:avLst/>
          </a:prstGeom>
          <a:noFill/>
        </p:spPr>
        <p:txBody>
          <a:bodyPr wrap="square" anchor="ctr">
            <a:spAutoFit/>
          </a:bodyPr>
          <a:lstStyle/>
          <a:p>
            <a:pPr algn="l"/>
            <a:r>
              <a:rPr sz="2600" b="1" i="0">
                <a:solidFill>
                  <a:srgbClr val="FFFFFF"/>
                </a:solidFill>
                <a:latin typeface="Segoe UI"/>
              </a:rPr>
              <a:t>Impact, cost, and a four-week proof of concept</a:t>
            </a:r>
          </a:p>
        </p:txBody>
      </p:sp>
      <p:sp>
        <p:nvSpPr>
          <p:cNvPr id="4" name="TextBox 3"/>
          <p:cNvSpPr txBox="1"/>
          <p:nvPr/>
        </p:nvSpPr>
        <p:spPr>
          <a:xfrm>
            <a:off x="11002975" y="0"/>
            <a:ext cx="731520" cy="1051560"/>
          </a:xfrm>
          <a:prstGeom prst="rect">
            <a:avLst/>
          </a:prstGeom>
          <a:noFill/>
        </p:spPr>
        <p:txBody>
          <a:bodyPr wrap="square" anchor="ctr">
            <a:spAutoFit/>
          </a:bodyPr>
          <a:lstStyle/>
          <a:p>
            <a:pPr algn="r"/>
            <a:r>
              <a:rPr sz="1200" b="0" i="0">
                <a:solidFill>
                  <a:srgbClr val="FFFFFF"/>
                </a:solidFill>
                <a:latin typeface="Segoe UI"/>
              </a:rPr>
              <a:t>4 / 4</a:t>
            </a:r>
          </a:p>
        </p:txBody>
      </p:sp>
      <p:sp>
        <p:nvSpPr>
          <p:cNvPr id="5" name="Rectangle 4"/>
          <p:cNvSpPr/>
          <p:nvPr/>
        </p:nvSpPr>
        <p:spPr>
          <a:xfrm>
            <a:off x="457200" y="1280160"/>
            <a:ext cx="3576218" cy="41605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3210458" cy="411480"/>
          </a:xfrm>
          <a:prstGeom prst="rect">
            <a:avLst/>
          </a:prstGeom>
          <a:noFill/>
        </p:spPr>
        <p:txBody>
          <a:bodyPr wrap="square" anchor="t">
            <a:spAutoFit/>
          </a:bodyPr>
          <a:lstStyle/>
          <a:p>
            <a:pPr algn="l"/>
            <a:r>
              <a:rPr sz="1500" b="1" i="0">
                <a:solidFill>
                  <a:srgbClr val="0B1F3A"/>
                </a:solidFill>
                <a:latin typeface="Segoe UI"/>
              </a:rPr>
              <a:t>Impact (assumptions to confirm)</a:t>
            </a:r>
          </a:p>
        </p:txBody>
      </p:sp>
      <p:sp>
        <p:nvSpPr>
          <p:cNvPr id="7" name="TextBox 6"/>
          <p:cNvSpPr txBox="1"/>
          <p:nvPr/>
        </p:nvSpPr>
        <p:spPr>
          <a:xfrm>
            <a:off x="640080" y="1828800"/>
            <a:ext cx="3210458" cy="3520440"/>
          </a:xfrm>
          <a:prstGeom prst="rect">
            <a:avLst/>
          </a:prstGeom>
          <a:noFill/>
        </p:spPr>
        <p:txBody>
          <a:bodyPr wrap="square">
            <a:spAutoFit/>
          </a:bodyPr>
          <a:lstStyle/>
          <a:p>
            <a:pPr>
              <a:spcAft>
                <a:spcPts val="600"/>
              </a:spcAft>
            </a:pPr>
            <a:r>
              <a:rPr sz="1300" b="1" i="0">
                <a:solidFill>
                  <a:srgbClr val="0B1F3A"/>
                </a:solidFill>
                <a:latin typeface="Segoe UI"/>
              </a:rPr>
              <a:t>First, the deadline. </a:t>
            </a:r>
            <a:r>
              <a:rPr sz="1300" b="0" i="0">
                <a:solidFill>
                  <a:srgbClr val="1A1A1A"/>
                </a:solidFill>
                <a:latin typeface="Segoe UI"/>
              </a:rPr>
              <a:t>Finding proof by hand for 12 to 20 breaks takes 180 to 500 analyst-minutes. The team has 450 to 600 before the open.</a:t>
            </a:r>
          </a:p>
          <a:p>
            <a:pPr>
              <a:spcAft>
                <a:spcPts val="600"/>
              </a:spcAft>
            </a:pPr>
            <a:r>
              <a:rPr sz="1300" b="1" i="0">
                <a:solidFill>
                  <a:srgbClr val="0B1F3A"/>
                </a:solidFill>
                <a:latin typeface="Segoe UI"/>
              </a:rPr>
              <a:t>With Break Check: </a:t>
            </a:r>
            <a:r>
              <a:rPr sz="1300" b="0" i="0">
                <a:solidFill>
                  <a:srgbClr val="1A1A1A"/>
                </a:solidFill>
                <a:latin typeface="Segoe UI"/>
              </a:rPr>
              <a:t>a 3 to 5 minute review each, so 36 to 100 minutes. Fewer breaks still open at 9:30.</a:t>
            </a:r>
          </a:p>
          <a:p>
            <a:pPr>
              <a:spcAft>
                <a:spcPts val="600"/>
              </a:spcAft>
            </a:pPr>
            <a:r>
              <a:rPr sz="1300" b="1" i="0">
                <a:solidFill>
                  <a:srgbClr val="0B1F3A"/>
                </a:solidFill>
                <a:latin typeface="Segoe UI"/>
              </a:rPr>
              <a:t>Second, analyst time: </a:t>
            </a:r>
            <a:r>
              <a:rPr sz="1300" b="0" i="0">
                <a:solidFill>
                  <a:srgbClr val="1A1A1A"/>
                </a:solidFill>
                <a:latin typeface="Segoe UI"/>
              </a:rPr>
              <a:t>about $45K to $126K a year at $75 an hour loaded cost.</a:t>
            </a:r>
          </a:p>
          <a:p>
            <a:pPr>
              <a:spcAft>
                <a:spcPts val="600"/>
              </a:spcAft>
            </a:pPr>
            <a:r>
              <a:rPr sz="1300" b="1" i="0">
                <a:solidFill>
                  <a:srgbClr val="0B1F3A"/>
                </a:solidFill>
                <a:latin typeface="Segoe UI"/>
              </a:rPr>
              <a:t>How we prove it: </a:t>
            </a:r>
            <a:r>
              <a:rPr sz="1300" b="0" i="0">
                <a:solidFill>
                  <a:srgbClr val="1A1A1A"/>
                </a:solidFill>
                <a:latin typeface="Segoe UI"/>
              </a:rPr>
              <a:t>count open breaks at 9:30 with and without the tool for one week.</a:t>
            </a:r>
          </a:p>
        </p:txBody>
      </p:sp>
      <p:sp>
        <p:nvSpPr>
          <p:cNvPr id="8" name="Rectangle 7"/>
          <p:cNvSpPr/>
          <p:nvPr/>
        </p:nvSpPr>
        <p:spPr>
          <a:xfrm>
            <a:off x="4307738" y="1280160"/>
            <a:ext cx="3576218" cy="41605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90618" y="1371600"/>
            <a:ext cx="3210458" cy="411480"/>
          </a:xfrm>
          <a:prstGeom prst="rect">
            <a:avLst/>
          </a:prstGeom>
          <a:noFill/>
        </p:spPr>
        <p:txBody>
          <a:bodyPr wrap="square" anchor="t">
            <a:spAutoFit/>
          </a:bodyPr>
          <a:lstStyle/>
          <a:p>
            <a:pPr algn="l"/>
            <a:r>
              <a:rPr sz="1500" b="1" i="0">
                <a:solidFill>
                  <a:srgbClr val="15803D"/>
                </a:solidFill>
                <a:latin typeface="Segoe UI"/>
              </a:rPr>
              <a:t>Exa cost (measured 2026-09-29)</a:t>
            </a:r>
          </a:p>
        </p:txBody>
      </p:sp>
      <p:sp>
        <p:nvSpPr>
          <p:cNvPr id="10" name="TextBox 9"/>
          <p:cNvSpPr txBox="1"/>
          <p:nvPr/>
        </p:nvSpPr>
        <p:spPr>
          <a:xfrm>
            <a:off x="4490618" y="1828800"/>
            <a:ext cx="3210458" cy="3520440"/>
          </a:xfrm>
          <a:prstGeom prst="rect">
            <a:avLst/>
          </a:prstGeom>
          <a:noFill/>
        </p:spPr>
        <p:txBody>
          <a:bodyPr wrap="square">
            <a:spAutoFit/>
          </a:bodyPr>
          <a:lstStyle/>
          <a:p>
            <a:pPr>
              <a:spcAft>
                <a:spcPts val="600"/>
              </a:spcAft>
            </a:pPr>
            <a:r>
              <a:rPr sz="1300" b="1" i="0">
                <a:solidFill>
                  <a:srgbClr val="0B1F3A"/>
                </a:solidFill>
                <a:latin typeface="Segoe UI"/>
              </a:rPr>
              <a:t>Per break: </a:t>
            </a:r>
            <a:r>
              <a:rPr sz="1300" b="0" i="0">
                <a:solidFill>
                  <a:srgbClr val="1A1A1A"/>
                </a:solidFill>
                <a:latin typeface="Segoe UI"/>
              </a:rPr>
              <a:t>2 searches at $0.007 each, so $0.014.</a:t>
            </a:r>
          </a:p>
          <a:p>
            <a:pPr>
              <a:spcAft>
                <a:spcPts val="600"/>
              </a:spcAft>
            </a:pPr>
            <a:r>
              <a:rPr sz="1300" b="1" i="0">
                <a:solidFill>
                  <a:srgbClr val="0B1F3A"/>
                </a:solidFill>
                <a:latin typeface="Segoe UI"/>
              </a:rPr>
              <a:t>Per year: </a:t>
            </a:r>
            <a:r>
              <a:rPr sz="1300" b="0" i="0">
                <a:solidFill>
                  <a:srgbClr val="1A1A1A"/>
                </a:solidFill>
                <a:latin typeface="Segoe UI"/>
              </a:rPr>
              <a:t>under $100 at list price for 12 to 20 breaks a day.</a:t>
            </a:r>
          </a:p>
          <a:p>
            <a:pPr>
              <a:spcAft>
                <a:spcPts val="600"/>
              </a:spcAft>
            </a:pPr>
            <a:r>
              <a:rPr sz="1300" b="1" i="0">
                <a:solidFill>
                  <a:srgbClr val="0B1F3A"/>
                </a:solidFill>
                <a:latin typeface="Segoe UI"/>
              </a:rPr>
              <a:t>Speed: </a:t>
            </a:r>
            <a:r>
              <a:rPr sz="1300" b="0" i="0">
                <a:solidFill>
                  <a:srgbClr val="1A1A1A"/>
                </a:solidFill>
                <a:latin typeface="Segoe UI"/>
              </a:rPr>
              <a:t>2 to 4 seconds per search.</a:t>
            </a:r>
          </a:p>
          <a:p>
            <a:pPr>
              <a:spcAft>
                <a:spcPts val="600"/>
              </a:spcAft>
            </a:pPr>
            <a:r>
              <a:rPr sz="1300" b="1" i="0">
                <a:solidFill>
                  <a:srgbClr val="0B1F3A"/>
                </a:solidFill>
                <a:latin typeface="Segoe UI"/>
              </a:rPr>
              <a:t>Accuracy so far: </a:t>
            </a:r>
            <a:r>
              <a:rPr sz="1300" b="0" i="0">
                <a:solidFill>
                  <a:srgbClr val="1A1A1A"/>
                </a:solidFill>
                <a:latin typeface="Segoe UI"/>
              </a:rPr>
              <a:t>across 22 live calls, no invented values. When a fact was not on the page the field came back "not stated".</a:t>
            </a:r>
          </a:p>
          <a:p>
            <a:pPr>
              <a:spcAft>
                <a:spcPts val="600"/>
              </a:spcAft>
            </a:pPr>
            <a:r>
              <a:rPr sz="1300" b="1" i="0">
                <a:solidFill>
                  <a:srgbClr val="0B1F3A"/>
                </a:solidFill>
                <a:latin typeface="Segoe UI"/>
              </a:rPr>
              <a:t>Why it still matters to Exa: </a:t>
            </a:r>
            <a:r>
              <a:rPr sz="1300" b="0" i="0">
                <a:solidFill>
                  <a:srgbClr val="1A1A1A"/>
                </a:solidFill>
                <a:latin typeface="Segoe UI"/>
              </a:rPr>
              <a:t>this is the workload that gets Exa through security review at an asset manager. Research and credit monitoring follow.</a:t>
            </a:r>
          </a:p>
        </p:txBody>
      </p:sp>
      <p:sp>
        <p:nvSpPr>
          <p:cNvPr id="11" name="Rectangle 10"/>
          <p:cNvSpPr/>
          <p:nvPr/>
        </p:nvSpPr>
        <p:spPr>
          <a:xfrm>
            <a:off x="8158276" y="1280160"/>
            <a:ext cx="3576218" cy="41605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41156" y="1371600"/>
            <a:ext cx="3210458" cy="411480"/>
          </a:xfrm>
          <a:prstGeom prst="rect">
            <a:avLst/>
          </a:prstGeom>
          <a:noFill/>
        </p:spPr>
        <p:txBody>
          <a:bodyPr wrap="square" anchor="t">
            <a:spAutoFit/>
          </a:bodyPr>
          <a:lstStyle/>
          <a:p>
            <a:pPr algn="l"/>
            <a:r>
              <a:rPr sz="1500" b="1" i="0">
                <a:solidFill>
                  <a:srgbClr val="0B1F3A"/>
                </a:solidFill>
                <a:latin typeface="Segoe UI"/>
              </a:rPr>
              <a:t>Proof of concept</a:t>
            </a:r>
          </a:p>
        </p:txBody>
      </p:sp>
      <p:sp>
        <p:nvSpPr>
          <p:cNvPr id="13" name="TextBox 12"/>
          <p:cNvSpPr txBox="1"/>
          <p:nvPr/>
        </p:nvSpPr>
        <p:spPr>
          <a:xfrm>
            <a:off x="8341156" y="1828800"/>
            <a:ext cx="3210458" cy="3520440"/>
          </a:xfrm>
          <a:prstGeom prst="rect">
            <a:avLst/>
          </a:prstGeom>
          <a:noFill/>
        </p:spPr>
        <p:txBody>
          <a:bodyPr wrap="square">
            <a:spAutoFit/>
          </a:bodyPr>
          <a:lstStyle/>
          <a:p>
            <a:pPr>
              <a:spcAft>
                <a:spcPts val="600"/>
              </a:spcAft>
            </a:pPr>
            <a:r>
              <a:rPr sz="1300" b="1" i="0">
                <a:solidFill>
                  <a:srgbClr val="0B1F3A"/>
                </a:solidFill>
                <a:latin typeface="Segoe UI"/>
              </a:rPr>
              <a:t>Week 0: </a:t>
            </a:r>
            <a:r>
              <a:rPr sz="1300" b="0" i="0">
                <a:solidFill>
                  <a:srgbClr val="1A1A1A"/>
                </a:solidFill>
                <a:latin typeface="Segoe UI"/>
              </a:rPr>
              <a:t>security review, zero data retention turned on.</a:t>
            </a:r>
          </a:p>
          <a:p>
            <a:pPr>
              <a:spcAft>
                <a:spcPts val="600"/>
              </a:spcAft>
            </a:pPr>
            <a:r>
              <a:rPr sz="1300" b="1" i="0">
                <a:solidFill>
                  <a:srgbClr val="0B1F3A"/>
                </a:solidFill>
                <a:latin typeface="Segoe UI"/>
              </a:rPr>
              <a:t>Week 1: </a:t>
            </a:r>
            <a:r>
              <a:rPr sz="1300" b="0" i="0">
                <a:solidFill>
                  <a:srgbClr val="1A1A1A"/>
                </a:solidFill>
                <a:latin typeface="Segoe UI"/>
              </a:rPr>
              <a:t>public test on about 230 Nasdaq notices. No holdings sent.</a:t>
            </a:r>
          </a:p>
          <a:p>
            <a:pPr>
              <a:spcAft>
                <a:spcPts val="600"/>
              </a:spcAft>
            </a:pPr>
            <a:r>
              <a:rPr sz="1300" b="1" i="0">
                <a:solidFill>
                  <a:srgbClr val="0B1F3A"/>
                </a:solidFill>
                <a:latin typeface="Segoe UI"/>
              </a:rPr>
              <a:t>Week 2: </a:t>
            </a:r>
            <a:r>
              <a:rPr sz="1300" b="0" i="0">
                <a:solidFill>
                  <a:srgbClr val="1A1A1A"/>
                </a:solidFill>
                <a:latin typeface="Segoe UI"/>
              </a:rPr>
              <a:t>replay 150 of the customer's closed tickets.</a:t>
            </a:r>
          </a:p>
          <a:p>
            <a:pPr>
              <a:spcAft>
                <a:spcPts val="600"/>
              </a:spcAft>
            </a:pPr>
            <a:r>
              <a:rPr sz="1300" b="1" i="0">
                <a:solidFill>
                  <a:srgbClr val="0B1F3A"/>
                </a:solidFill>
                <a:latin typeface="Segoe UI"/>
              </a:rPr>
              <a:t>Week 3: </a:t>
            </a:r>
            <a:r>
              <a:rPr sz="1300" b="0" i="0">
                <a:solidFill>
                  <a:srgbClr val="1A1A1A"/>
                </a:solidFill>
                <a:latin typeface="Segoe UI"/>
              </a:rPr>
              <a:t>analysts use it alongside today's process.</a:t>
            </a:r>
          </a:p>
          <a:p>
            <a:pPr>
              <a:spcAft>
                <a:spcPts val="600"/>
              </a:spcAft>
            </a:pPr>
            <a:r>
              <a:rPr sz="1300" b="1" i="0">
                <a:solidFill>
                  <a:srgbClr val="0B1F3A"/>
                </a:solidFill>
                <a:latin typeface="Segoe UI"/>
              </a:rPr>
              <a:t>Pass means: </a:t>
            </a:r>
            <a:r>
              <a:rPr sz="1300" b="0" i="0">
                <a:solidFill>
                  <a:srgbClr val="1A1A1A"/>
                </a:solidFill>
                <a:latin typeface="Segoe UI"/>
              </a:rPr>
              <a:t>issuer source found 90% or more, fields match the analyst 95% or more, zero wrong-issuer citations, median under 8 seconds.</a:t>
            </a:r>
          </a:p>
        </p:txBody>
      </p:sp>
      <p:sp>
        <p:nvSpPr>
          <p:cNvPr id="14" name="Rectangle 13"/>
          <p:cNvSpPr/>
          <p:nvPr/>
        </p:nvSpPr>
        <p:spPr>
          <a:xfrm>
            <a:off x="457200" y="5623560"/>
            <a:ext cx="11277295" cy="7772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23560"/>
            <a:ext cx="10820095" cy="777240"/>
          </a:xfrm>
          <a:prstGeom prst="rect">
            <a:avLst/>
          </a:prstGeom>
          <a:noFill/>
        </p:spPr>
        <p:txBody>
          <a:bodyPr wrap="square" anchor="ctr">
            <a:spAutoFit/>
          </a:bodyPr>
          <a:lstStyle/>
          <a:p>
            <a:pPr algn="l"/>
            <a:r>
              <a:rPr sz="1400" b="1" i="0">
                <a:solidFill>
                  <a:srgbClr val="FFFFFF"/>
                </a:solidFill>
                <a:latin typeface="Segoe UI"/>
              </a:rPr>
              <a:t>First questions for the customer: how many breaks a day need an outside check, how many are still open at 9:30, and what did the last wrong one cost?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